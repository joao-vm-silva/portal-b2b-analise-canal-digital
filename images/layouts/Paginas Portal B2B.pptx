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8BB0"/>
    <a:srgbClr val="123964"/>
    <a:srgbClr val="2C5068"/>
    <a:srgbClr val="FC7819"/>
    <a:srgbClr val="154371"/>
    <a:srgbClr val="F2F2F2"/>
    <a:srgbClr val="011C3A"/>
    <a:srgbClr val="3A6A90"/>
    <a:srgbClr val="1F3A4D"/>
    <a:srgbClr val="8892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3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C4002-678A-4B6A-81E1-3FF4855F0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0F2F3-5200-47F4-AF5F-B2108E5D1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9F2872-2C87-42D9-8949-52BA5573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6644D6-8EF3-445B-801F-5CB03C8E4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5F854-84CE-4E0A-8C3D-32DE6D01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87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41EC3-787A-4AB6-9DF8-2A8E71BB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A12EA5-1630-45A8-B039-F9182F5E3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16C03-8784-47DD-B318-6D10FD2FE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DB6FF6-DDF0-406D-AB46-8B808DCE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95AEF-BC3A-4878-B567-A6504DE2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85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BC1C3-5F9B-4497-A000-8859AE3E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AC48FA-AC9D-44E0-BAB7-F4D69739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D9305-D482-4E9E-8228-1566285E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08D161-CF79-4B15-9323-B027CBC8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571537-023D-4A10-8E64-2799A56C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185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B4205-E67B-4FB4-9AD9-D5F6290C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2010F9-3CA4-4954-A9AD-C2BF85114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27071F-BEC7-469D-94E1-35A1338F0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234D48-D46E-41D4-A99F-A02A9735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2FC194-9619-4163-93D3-3D9EEE2A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0B0538-3A23-4E16-8983-F9679695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83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95595-D0FC-4A5B-A87B-4D143AE8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55D21D-A3DE-43B8-A777-1CFA54DD5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6D7BE0-011B-477A-9557-62BD0B3A0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3125AD-24EB-44F2-80F2-0A35792BC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B23621-AF94-4453-AFCD-91827F5DA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0D4685-E072-4A5F-A4B8-99F29602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086CEC-B0CB-44A0-BF11-D6688E58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338E09-C53B-4EFB-A741-99FC95BB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4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37B5C-ABCD-4438-96B0-E579BD04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BB4C54-DCDB-400A-A034-A6AF1AC5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6C1882-63A1-4236-8B93-26C10B42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CD1F0E-7189-4AD8-B9FD-4F6D1DC6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00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E69864-B9DB-4718-AC75-38E73846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5A379F-F6F5-4F6A-8E07-6D43AAF5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1712A1A-DE8E-4653-B20E-07749D7C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98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FDA95-F0FC-4784-80B5-EE3BC5EA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DCFFF0-7F60-4969-8B66-D6C607685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2C6FC2-39A9-4D2E-85CB-5C993AE8D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B2A4D0-D486-4FDD-8B8E-23415D21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4C2C44-1D8F-4DC8-B981-1F95BD06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06CC15-31C4-4FD1-B521-37CC62EA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894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886F-C43F-4C74-ABBB-7B3047C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C40F0B-E9CA-43B4-8CD1-7C1A7B90C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76BF0-79B3-468A-B40D-BC6F6AEC6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29693A-C593-4C81-82AC-5C64C61E9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591728-F0CD-46A2-8EC6-32031320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B6F74A-53E9-4BAE-A11B-7BE3B632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89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FF5A9-7C68-4FEB-A676-7378BFE1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402B8A-B30E-4438-9AF8-F3426EF5C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B9D0C2-4C71-46AA-86D1-A5D88557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302589-AA33-4C7E-9870-C08D9E4CC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A2A9EF-F090-4360-89C1-71DFC6E4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34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A940E9-0CB5-4700-ABA7-5327DE1D8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4A4BCB5-BC53-4A5C-AD67-8A9081389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00C0A-6B77-4CDE-8770-DBE73895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6946A-CB30-409C-9EFB-91D9F13A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74CAE-17BA-4216-9C52-E8FCC75E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92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6AD153-80F5-46F5-BD7F-7838F683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02A325-EAE4-46E1-B83D-C9E909208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23F0E0-7B6F-4721-A15F-77DCEECCA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AC91C-EB0E-495C-912B-3C8A99BFE46B}" type="datetimeFigureOut">
              <a:rPr lang="pt-BR" smtClean="0"/>
              <a:t>06/08/2026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A1388-4BCC-42CE-BCEA-45140C383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37604C-EFFA-4286-8305-9D59827D0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18799-A65F-46D9-A417-1E3F746C72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890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CDA105-ECE4-499F-9819-0BC99B948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5ED5AE7-4958-0A12-C56D-789CC082BFC6}"/>
              </a:ext>
            </a:extLst>
          </p:cNvPr>
          <p:cNvGrpSpPr/>
          <p:nvPr/>
        </p:nvGrpSpPr>
        <p:grpSpPr>
          <a:xfrm>
            <a:off x="26637" y="1305353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4A76B488-56B2-4DF7-A077-25F3136143A4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0A9E9271-D14E-41F6-9257-7ECC914DF094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65B83BE1-11C0-44AA-9FEA-4699C6FDBCFB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005E5-1901-4000-B0E0-39F762E4291E}"/>
              </a:ext>
            </a:extLst>
          </p:cNvPr>
          <p:cNvSpPr/>
          <p:nvPr/>
        </p:nvSpPr>
        <p:spPr>
          <a:xfrm>
            <a:off x="2301874" y="907201"/>
            <a:ext cx="4636838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6A0D39-5D88-48D1-A910-E50F7498E119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2737AC-291F-4958-92FA-F3CDFEA5E90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2DE35BA-973D-4CAC-9A94-5CF3E5D4B39E}"/>
              </a:ext>
            </a:extLst>
          </p:cNvPr>
          <p:cNvSpPr/>
          <p:nvPr/>
        </p:nvSpPr>
        <p:spPr>
          <a:xfrm>
            <a:off x="2290225" y="2237216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EF09874-240D-4C03-AFF0-79BD3F53B832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6A1BB63-CD8C-4D8A-9317-0E58918F9230}"/>
              </a:ext>
            </a:extLst>
          </p:cNvPr>
          <p:cNvSpPr/>
          <p:nvPr/>
        </p:nvSpPr>
        <p:spPr>
          <a:xfrm>
            <a:off x="2282703" y="4547607"/>
            <a:ext cx="9599377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DB08790-87BD-4703-9BFD-3DE98F4D4C37}"/>
              </a:ext>
            </a:extLst>
          </p:cNvPr>
          <p:cNvSpPr txBox="1"/>
          <p:nvPr/>
        </p:nvSpPr>
        <p:spPr>
          <a:xfrm>
            <a:off x="2282702" y="274264"/>
            <a:ext cx="3477436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Visão Executiva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DF588E-52FE-70D0-C7CD-DBEF51815D6D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F6B62C-9DEC-A5FB-3B38-1203FDFD0657}"/>
              </a:ext>
            </a:extLst>
          </p:cNvPr>
          <p:cNvSpPr txBox="1"/>
          <p:nvPr/>
        </p:nvSpPr>
        <p:spPr>
          <a:xfrm>
            <a:off x="295267" y="1272707"/>
            <a:ext cx="1743101" cy="22435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F623C0-3748-C121-678C-64BD95AFED17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613C454-721B-449B-927E-B834C9322CA7}"/>
              </a:ext>
            </a:extLst>
          </p:cNvPr>
          <p:cNvSpPr txBox="1"/>
          <p:nvPr/>
        </p:nvSpPr>
        <p:spPr>
          <a:xfrm>
            <a:off x="-13" y="6536532"/>
            <a:ext cx="125731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LIMPAR 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521832C-2C14-3660-35A6-34A62D0D2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8812D6F-E4E6-D451-9351-64704C0E5269}"/>
              </a:ext>
            </a:extLst>
          </p:cNvPr>
          <p:cNvSpPr txBox="1"/>
          <p:nvPr/>
        </p:nvSpPr>
        <p:spPr>
          <a:xfrm>
            <a:off x="2301873" y="555675"/>
            <a:ext cx="3748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Resumo de integração, adoção e desempenho comercial.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B55061F-CF68-2E0F-E6C5-81C843E1D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8ED8542-0F90-BE86-BE9F-8199C4A3BA4B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40408DB5-3B7C-44F1-B993-8F5CCBD8A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C6BD5E3-B1BE-4E8D-9273-8C258843D0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5828"/>
            <a:ext cx="233339" cy="23333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1E6D205-390E-4B3D-90C9-4D503C3936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60111"/>
            <a:ext cx="245444" cy="24544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1163E5FE-1419-457B-9AB3-A4005F4084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46836"/>
            <a:ext cx="245444" cy="24544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D8488F36-E4A5-4CC9-B4D5-27E3A50F36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233561"/>
            <a:ext cx="246932" cy="246932"/>
          </a:xfrm>
          <a:prstGeom prst="rect">
            <a:avLst/>
          </a:prstGeom>
        </p:spPr>
      </p:pic>
      <p:grpSp>
        <p:nvGrpSpPr>
          <p:cNvPr id="43" name="Agrupar 42">
            <a:extLst>
              <a:ext uri="{FF2B5EF4-FFF2-40B4-BE49-F238E27FC236}">
                <a16:creationId xmlns:a16="http://schemas.microsoft.com/office/drawing/2014/main" id="{D89F24FE-8115-48E5-23A7-809764E15F9B}"/>
              </a:ext>
            </a:extLst>
          </p:cNvPr>
          <p:cNvGrpSpPr/>
          <p:nvPr/>
        </p:nvGrpSpPr>
        <p:grpSpPr>
          <a:xfrm>
            <a:off x="2410255" y="972000"/>
            <a:ext cx="612000" cy="575209"/>
            <a:chOff x="2410255" y="1063788"/>
            <a:chExt cx="625831" cy="575209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5B95B769-C473-DB4F-1943-1E667259DFB4}"/>
                </a:ext>
              </a:extLst>
            </p:cNvPr>
            <p:cNvSpPr/>
            <p:nvPr/>
          </p:nvSpPr>
          <p:spPr>
            <a:xfrm>
              <a:off x="2410255" y="1063788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BDD8ACA9-4FFB-8F82-892A-E922BBF11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3991" y="1150442"/>
              <a:ext cx="403884" cy="403884"/>
            </a:xfrm>
            <a:prstGeom prst="rect">
              <a:avLst/>
            </a:prstGeom>
          </p:spPr>
        </p:pic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371FE5D9-135B-9E87-91B4-4AF390F786A9}"/>
              </a:ext>
            </a:extLst>
          </p:cNvPr>
          <p:cNvGrpSpPr/>
          <p:nvPr/>
        </p:nvGrpSpPr>
        <p:grpSpPr>
          <a:xfrm>
            <a:off x="7349791" y="972000"/>
            <a:ext cx="612000" cy="575209"/>
            <a:chOff x="7349791" y="1065600"/>
            <a:chExt cx="625831" cy="575209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F2C6EAA-E44A-4C84-9FBB-0F94D9950CA7}"/>
                </a:ext>
              </a:extLst>
            </p:cNvPr>
            <p:cNvSpPr/>
            <p:nvPr/>
          </p:nvSpPr>
          <p:spPr>
            <a:xfrm>
              <a:off x="7349791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B8FF4811-50AF-2576-963C-A996FA494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8005" y="1122899"/>
              <a:ext cx="482465" cy="482465"/>
            </a:xfrm>
            <a:prstGeom prst="rect">
              <a:avLst/>
            </a:prstGeom>
          </p:spPr>
        </p:pic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5FE772A4-3621-D151-179E-0EBAE0386D5A}"/>
              </a:ext>
            </a:extLst>
          </p:cNvPr>
          <p:cNvGrpSpPr/>
          <p:nvPr/>
        </p:nvGrpSpPr>
        <p:grpSpPr>
          <a:xfrm>
            <a:off x="9807869" y="972000"/>
            <a:ext cx="612000" cy="575209"/>
            <a:chOff x="9807869" y="1065600"/>
            <a:chExt cx="625831" cy="575209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A27E7D20-915A-A493-07FE-14540B4564E2}"/>
                </a:ext>
              </a:extLst>
            </p:cNvPr>
            <p:cNvSpPr/>
            <p:nvPr/>
          </p:nvSpPr>
          <p:spPr>
            <a:xfrm>
              <a:off x="9807869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0DD3EC17-083C-B3E8-BCFE-6473D8E1D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8296" y="1134464"/>
              <a:ext cx="448546" cy="448546"/>
            </a:xfrm>
            <a:prstGeom prst="rect">
              <a:avLst/>
            </a:prstGeom>
          </p:spPr>
        </p:pic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20EC632-99B0-F3D5-9D38-D9C842B660C8}"/>
              </a:ext>
            </a:extLst>
          </p:cNvPr>
          <p:cNvSpPr/>
          <p:nvPr/>
        </p:nvSpPr>
        <p:spPr>
          <a:xfrm>
            <a:off x="30980" y="6505639"/>
            <a:ext cx="1646926" cy="30521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E68E34D8-DAEE-EF58-5CEC-E03523B15E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439" y="6549051"/>
            <a:ext cx="234865" cy="234865"/>
          </a:xfrm>
          <a:prstGeom prst="rect">
            <a:avLst/>
          </a:prstGeom>
        </p:spPr>
      </p:pic>
      <p:sp>
        <p:nvSpPr>
          <p:cNvPr id="29" name="Barra de título do visual">
            <a:extLst>
              <a:ext uri="{FF2B5EF4-FFF2-40B4-BE49-F238E27FC236}">
                <a16:creationId xmlns:a16="http://schemas.microsoft.com/office/drawing/2014/main" id="{7613224F-83FC-97DD-1BF3-F086C352838C}"/>
              </a:ext>
            </a:extLst>
          </p:cNvPr>
          <p:cNvSpPr/>
          <p:nvPr/>
        </p:nvSpPr>
        <p:spPr>
          <a:xfrm>
            <a:off x="2290225" y="2237216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arra de título do visual">
            <a:extLst>
              <a:ext uri="{FF2B5EF4-FFF2-40B4-BE49-F238E27FC236}">
                <a16:creationId xmlns:a16="http://schemas.microsoft.com/office/drawing/2014/main" id="{FE4FA7B8-9949-3BFE-5267-E2FF3F2722EA}"/>
              </a:ext>
            </a:extLst>
          </p:cNvPr>
          <p:cNvSpPr/>
          <p:nvPr/>
        </p:nvSpPr>
        <p:spPr>
          <a:xfrm>
            <a:off x="7241107" y="2227995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Barra de título do visual">
            <a:extLst>
              <a:ext uri="{FF2B5EF4-FFF2-40B4-BE49-F238E27FC236}">
                <a16:creationId xmlns:a16="http://schemas.microsoft.com/office/drawing/2014/main" id="{CC2865F8-EDB4-1525-2B3A-CC1F97DA9D0F}"/>
              </a:ext>
            </a:extLst>
          </p:cNvPr>
          <p:cNvSpPr/>
          <p:nvPr/>
        </p:nvSpPr>
        <p:spPr>
          <a:xfrm>
            <a:off x="2282703" y="4547607"/>
            <a:ext cx="9599377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B3F7FA27-B272-3B29-C7FA-B9F0CCB02D96}"/>
              </a:ext>
            </a:extLst>
          </p:cNvPr>
          <p:cNvSpPr txBox="1"/>
          <p:nvPr/>
        </p:nvSpPr>
        <p:spPr>
          <a:xfrm>
            <a:off x="3430300" y="2268226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Situação da Base do Portal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A724EA4-0A02-4DBA-FD84-25A4C608FBA0}"/>
              </a:ext>
            </a:extLst>
          </p:cNvPr>
          <p:cNvSpPr txBox="1"/>
          <p:nvPr/>
        </p:nvSpPr>
        <p:spPr>
          <a:xfrm>
            <a:off x="8156903" y="2246453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Funil de adoção do Portal B2B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63B639C-CFD6-114D-3E03-37F9BE924766}"/>
              </a:ext>
            </a:extLst>
          </p:cNvPr>
          <p:cNvSpPr txBox="1"/>
          <p:nvPr/>
        </p:nvSpPr>
        <p:spPr>
          <a:xfrm>
            <a:off x="5681469" y="4578298"/>
            <a:ext cx="22941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Vendas do Portal por mês</a:t>
            </a:r>
          </a:p>
        </p:txBody>
      </p:sp>
    </p:spTree>
    <p:extLst>
      <p:ext uri="{BB962C8B-B14F-4D97-AF65-F5344CB8AC3E}">
        <p14:creationId xmlns:p14="http://schemas.microsoft.com/office/powerpoint/2010/main" val="3472703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3CCD-3DD5-8B4A-1DDB-D65A4348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0C4A20-2B77-1E8C-9C2D-68ADBB3A04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20EC7BF-2CF1-3B7E-C9E9-6C8D3A824BE5}"/>
              </a:ext>
            </a:extLst>
          </p:cNvPr>
          <p:cNvGrpSpPr/>
          <p:nvPr/>
        </p:nvGrpSpPr>
        <p:grpSpPr>
          <a:xfrm>
            <a:off x="26637" y="1767487"/>
            <a:ext cx="1895032" cy="292292"/>
            <a:chOff x="26637" y="1377194"/>
            <a:chExt cx="1895032" cy="292292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3210C993-5962-9C7D-87B5-DADE7B229F72}"/>
                </a:ext>
              </a:extLst>
            </p:cNvPr>
            <p:cNvSpPr/>
            <p:nvPr/>
          </p:nvSpPr>
          <p:spPr>
            <a:xfrm>
              <a:off x="26637" y="1379220"/>
              <a:ext cx="1895032" cy="290266"/>
            </a:xfrm>
            <a:prstGeom prst="roundRect">
              <a:avLst/>
            </a:prstGeom>
            <a:solidFill>
              <a:srgbClr val="154371"/>
            </a:solidFill>
            <a:ln>
              <a:noFill/>
            </a:ln>
            <a:effectLst>
              <a:outerShdw blurRad="152400" dist="63500" sx="93000" sy="93000" algn="ctr" rotWithShape="0">
                <a:schemeClr val="bg1">
                  <a:lumMod val="75000"/>
                  <a:alpha val="7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281A8A10-9B2A-B026-8DC3-F3BE959A9DE7}"/>
                </a:ext>
              </a:extLst>
            </p:cNvPr>
            <p:cNvSpPr/>
            <p:nvPr/>
          </p:nvSpPr>
          <p:spPr>
            <a:xfrm>
              <a:off x="26775" y="1377194"/>
              <a:ext cx="36000" cy="290266"/>
            </a:xfrm>
            <a:prstGeom prst="roundRect">
              <a:avLst/>
            </a:prstGeom>
            <a:solidFill>
              <a:srgbClr val="FC7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0DE12A93-9AC2-45BB-9EEF-92EC497C730C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BA4724E-08D3-A6E1-8098-461B80FE407D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A7C96D4-66F6-A06B-DBEC-27402A324921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2012EB3-7E4C-B1B4-2DA3-33F9A488DFD4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380AC00-F8E0-117F-DFE1-2F48EFD069B5}"/>
              </a:ext>
            </a:extLst>
          </p:cNvPr>
          <p:cNvSpPr txBox="1"/>
          <p:nvPr/>
        </p:nvSpPr>
        <p:spPr>
          <a:xfrm>
            <a:off x="2282702" y="274264"/>
            <a:ext cx="3477436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Visão Executiva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B273A2-BD28-BF54-F1F9-DD24400F4EB4}"/>
              </a:ext>
            </a:extLst>
          </p:cNvPr>
          <p:cNvSpPr txBox="1"/>
          <p:nvPr/>
        </p:nvSpPr>
        <p:spPr>
          <a:xfrm>
            <a:off x="-6" y="951643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40CCDB3-01A6-4281-47F2-6EA4A3DB1752}"/>
              </a:ext>
            </a:extLst>
          </p:cNvPr>
          <p:cNvSpPr txBox="1"/>
          <p:nvPr/>
        </p:nvSpPr>
        <p:spPr>
          <a:xfrm>
            <a:off x="295267" y="1272707"/>
            <a:ext cx="1743101" cy="22435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20000"/>
            </a:pPr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Funil &amp; 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>
              <a:lnSpc>
                <a:spcPct val="150000"/>
              </a:lnSpc>
              <a:buSzPct val="120000"/>
            </a:pPr>
            <a:endParaRPr lang="pt-BR" sz="10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Evolução &amp; Comparativos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  <a:buSzPct val="120000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EDF203-3501-D654-0FB0-5DAF758B18F4}"/>
              </a:ext>
            </a:extLst>
          </p:cNvPr>
          <p:cNvSpPr txBox="1"/>
          <p:nvPr/>
        </p:nvSpPr>
        <p:spPr>
          <a:xfrm>
            <a:off x="-13" y="3660599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5E76825-9558-88E3-8199-C0B3B043B6D9}"/>
              </a:ext>
            </a:extLst>
          </p:cNvPr>
          <p:cNvSpPr txBox="1"/>
          <p:nvPr/>
        </p:nvSpPr>
        <p:spPr>
          <a:xfrm>
            <a:off x="-13" y="6536532"/>
            <a:ext cx="125731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LIMPAR 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B461500-F19A-3BC6-E1A9-1AFD5DDAC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A15602CF-17ED-384E-E75F-68C92B292C96}"/>
              </a:ext>
            </a:extLst>
          </p:cNvPr>
          <p:cNvSpPr txBox="1"/>
          <p:nvPr/>
        </p:nvSpPr>
        <p:spPr>
          <a:xfrm>
            <a:off x="2301873" y="555675"/>
            <a:ext cx="3748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Resumo de integração, adoção e desempenho comercial.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3C06EC7-B463-0EA7-A98D-AE9FB34EF8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4715DA-F1F4-7D1D-E54E-454FC7A2C8AE}"/>
              </a:ext>
            </a:extLst>
          </p:cNvPr>
          <p:cNvCxnSpPr>
            <a:cxnSpLocks/>
          </p:cNvCxnSpPr>
          <p:nvPr/>
        </p:nvCxnSpPr>
        <p:spPr>
          <a:xfrm>
            <a:off x="101085" y="3596292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11C26C37-F5DD-3E63-9206-EEAA506CEA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" y="1333817"/>
            <a:ext cx="233339" cy="2333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6D2021B-1896-BF9B-72D0-6A81FEA9D9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6" y="1805828"/>
            <a:ext cx="233339" cy="23333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9108FFA-394D-1DDB-4C25-89E96E49C9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260111"/>
            <a:ext cx="245444" cy="24544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D59E11E-8044-D1AC-8600-7678D8984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" y="2746836"/>
            <a:ext cx="245444" cy="24544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26BB435E-1C9E-D088-BB7E-AFB85B2881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1" y="3233561"/>
            <a:ext cx="246932" cy="246932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30A93125-AF3E-E815-7F22-6F89DCF91FE4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A748B25A-FF3D-3D2D-AB1F-3EFF2AE7E652}"/>
              </a:ext>
            </a:extLst>
          </p:cNvPr>
          <p:cNvGrpSpPr/>
          <p:nvPr/>
        </p:nvGrpSpPr>
        <p:grpSpPr>
          <a:xfrm>
            <a:off x="2410255" y="972000"/>
            <a:ext cx="612000" cy="575209"/>
            <a:chOff x="2410255" y="1063788"/>
            <a:chExt cx="625831" cy="575209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11A1AE8B-8605-FE77-9787-1A17352C134D}"/>
                </a:ext>
              </a:extLst>
            </p:cNvPr>
            <p:cNvSpPr/>
            <p:nvPr/>
          </p:nvSpPr>
          <p:spPr>
            <a:xfrm>
              <a:off x="2410255" y="1063788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8416F614-71D3-A730-EFEF-4ED207F49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3991" y="1150442"/>
              <a:ext cx="403884" cy="403884"/>
            </a:xfrm>
            <a:prstGeom prst="rect">
              <a:avLst/>
            </a:prstGeom>
          </p:spPr>
        </p:pic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2FCB9A9-F491-AEAD-0709-6568C785D5D6}"/>
              </a:ext>
            </a:extLst>
          </p:cNvPr>
          <p:cNvGrpSpPr/>
          <p:nvPr/>
        </p:nvGrpSpPr>
        <p:grpSpPr>
          <a:xfrm>
            <a:off x="7349791" y="972000"/>
            <a:ext cx="612000" cy="575209"/>
            <a:chOff x="7349791" y="1065600"/>
            <a:chExt cx="625831" cy="575209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7B97037-D5A1-A97D-7AAE-F230CE69013E}"/>
                </a:ext>
              </a:extLst>
            </p:cNvPr>
            <p:cNvSpPr/>
            <p:nvPr/>
          </p:nvSpPr>
          <p:spPr>
            <a:xfrm>
              <a:off x="7349791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3" name="Imagem 32">
              <a:extLst>
                <a:ext uri="{FF2B5EF4-FFF2-40B4-BE49-F238E27FC236}">
                  <a16:creationId xmlns:a16="http://schemas.microsoft.com/office/drawing/2014/main" id="{4CA9DB89-5AEA-3757-4B04-12D01BA7A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8005" y="1122899"/>
              <a:ext cx="482465" cy="482465"/>
            </a:xfrm>
            <a:prstGeom prst="rect">
              <a:avLst/>
            </a:prstGeom>
          </p:spPr>
        </p:pic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7FA79DF5-3BDC-28B4-71F3-579B53F0B1DE}"/>
              </a:ext>
            </a:extLst>
          </p:cNvPr>
          <p:cNvGrpSpPr/>
          <p:nvPr/>
        </p:nvGrpSpPr>
        <p:grpSpPr>
          <a:xfrm>
            <a:off x="9807869" y="972000"/>
            <a:ext cx="612000" cy="575209"/>
            <a:chOff x="9807869" y="1065600"/>
            <a:chExt cx="625831" cy="575209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DE94C76-81E7-DA42-99A1-950F5F8B2A30}"/>
                </a:ext>
              </a:extLst>
            </p:cNvPr>
            <p:cNvSpPr/>
            <p:nvPr/>
          </p:nvSpPr>
          <p:spPr>
            <a:xfrm>
              <a:off x="9807869" y="1065600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74F0E936-58FF-17FB-FE17-D088BDCF0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8296" y="1134464"/>
              <a:ext cx="448546" cy="448546"/>
            </a:xfrm>
            <a:prstGeom prst="rect">
              <a:avLst/>
            </a:prstGeom>
          </p:spPr>
        </p:pic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FB8BCB3-E308-AD52-0BDA-21FB0B93328E}"/>
              </a:ext>
            </a:extLst>
          </p:cNvPr>
          <p:cNvSpPr/>
          <p:nvPr/>
        </p:nvSpPr>
        <p:spPr>
          <a:xfrm>
            <a:off x="30980" y="6505639"/>
            <a:ext cx="1646926" cy="30521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0FB2176A-00C5-6BF2-9068-263DB9A7AF1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439" y="6549051"/>
            <a:ext cx="234865" cy="234865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DF192022-FC06-6E0D-2654-E6573B082E0B}"/>
              </a:ext>
            </a:extLst>
          </p:cNvPr>
          <p:cNvSpPr txBox="1"/>
          <p:nvPr/>
        </p:nvSpPr>
        <p:spPr>
          <a:xfrm>
            <a:off x="8156903" y="2246453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Funil de adoção do Portal B2B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6601EBF-C101-3260-5129-B86402DB8EBD}"/>
              </a:ext>
            </a:extLst>
          </p:cNvPr>
          <p:cNvSpPr/>
          <p:nvPr/>
        </p:nvSpPr>
        <p:spPr>
          <a:xfrm>
            <a:off x="2290225" y="2237215"/>
            <a:ext cx="4648486" cy="4318367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A5F8020D-7BA3-4273-A1A0-51825A362C71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Barra de título do visual">
            <a:extLst>
              <a:ext uri="{FF2B5EF4-FFF2-40B4-BE49-F238E27FC236}">
                <a16:creationId xmlns:a16="http://schemas.microsoft.com/office/drawing/2014/main" id="{261411E7-4F82-87DA-732C-7A70B75EF315}"/>
              </a:ext>
            </a:extLst>
          </p:cNvPr>
          <p:cNvSpPr/>
          <p:nvPr/>
        </p:nvSpPr>
        <p:spPr>
          <a:xfrm>
            <a:off x="2290225" y="2237216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D77ACD9-39DB-EFE2-7735-6720BE51EF1C}"/>
              </a:ext>
            </a:extLst>
          </p:cNvPr>
          <p:cNvSpPr txBox="1"/>
          <p:nvPr/>
        </p:nvSpPr>
        <p:spPr>
          <a:xfrm>
            <a:off x="2786883" y="2268226"/>
            <a:ext cx="399597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Carteiras com maior volume de oportunidades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13566F0-0673-BED5-4BA5-262FE42189A0}"/>
              </a:ext>
            </a:extLst>
          </p:cNvPr>
          <p:cNvSpPr/>
          <p:nvPr/>
        </p:nvSpPr>
        <p:spPr>
          <a:xfrm>
            <a:off x="7248629" y="4547607"/>
            <a:ext cx="4647600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Barra de título do visual">
            <a:extLst>
              <a:ext uri="{FF2B5EF4-FFF2-40B4-BE49-F238E27FC236}">
                <a16:creationId xmlns:a16="http://schemas.microsoft.com/office/drawing/2014/main" id="{652CCE8C-F206-A7CC-5B22-92F127102553}"/>
              </a:ext>
            </a:extLst>
          </p:cNvPr>
          <p:cNvSpPr/>
          <p:nvPr/>
        </p:nvSpPr>
        <p:spPr>
          <a:xfrm>
            <a:off x="7241107" y="4546800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arra de título do visual">
            <a:extLst>
              <a:ext uri="{FF2B5EF4-FFF2-40B4-BE49-F238E27FC236}">
                <a16:creationId xmlns:a16="http://schemas.microsoft.com/office/drawing/2014/main" id="{DBA2C5C2-BEA6-0B77-1729-0BCD05F98B08}"/>
              </a:ext>
            </a:extLst>
          </p:cNvPr>
          <p:cNvSpPr/>
          <p:nvPr/>
        </p:nvSpPr>
        <p:spPr>
          <a:xfrm>
            <a:off x="7241107" y="2227995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083790F1-FC74-CE2F-7187-FFE27C29D08C}"/>
              </a:ext>
            </a:extLst>
          </p:cNvPr>
          <p:cNvSpPr txBox="1"/>
          <p:nvPr/>
        </p:nvSpPr>
        <p:spPr>
          <a:xfrm>
            <a:off x="8157600" y="2246400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Oportunidades por Supervisor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DFD716D6-F237-B92F-959B-4467B2E3A42A}"/>
              </a:ext>
            </a:extLst>
          </p:cNvPr>
          <p:cNvSpPr txBox="1"/>
          <p:nvPr/>
        </p:nvSpPr>
        <p:spPr>
          <a:xfrm>
            <a:off x="7850473" y="4579200"/>
            <a:ext cx="360565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Cidades com mais oportunidades mapeadas</a:t>
            </a:r>
          </a:p>
        </p:txBody>
      </p: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7BB12DC1-F6AF-49D7-A438-606FFDB0C8BE}"/>
              </a:ext>
            </a:extLst>
          </p:cNvPr>
          <p:cNvGrpSpPr/>
          <p:nvPr/>
        </p:nvGrpSpPr>
        <p:grpSpPr>
          <a:xfrm>
            <a:off x="4877773" y="993353"/>
            <a:ext cx="612000" cy="575209"/>
            <a:chOff x="2410255" y="1063788"/>
            <a:chExt cx="625831" cy="575209"/>
          </a:xfrm>
        </p:grpSpPr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883720F3-642F-9A91-46B6-0CF4F3B9E662}"/>
                </a:ext>
              </a:extLst>
            </p:cNvPr>
            <p:cNvSpPr/>
            <p:nvPr/>
          </p:nvSpPr>
          <p:spPr>
            <a:xfrm>
              <a:off x="2410255" y="1063788"/>
              <a:ext cx="625831" cy="575209"/>
            </a:xfrm>
            <a:prstGeom prst="ellipse">
              <a:avLst/>
            </a:prstGeom>
            <a:solidFill>
              <a:srgbClr val="123964"/>
            </a:solidFill>
            <a:ln>
              <a:solidFill>
                <a:srgbClr val="698BB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D6258E75-4D61-7203-2C08-CD4600124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3991" y="1150442"/>
              <a:ext cx="403884" cy="4038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916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17909-9675-E0EE-3742-40C068E75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0E945F-A3F4-8B27-FABF-E4EAD73AFA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1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821300CA-D33B-9065-AA41-F80075F1250E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17BA07F-F9D4-B9E9-818D-DB6C0AB2470D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0F0B44D-3413-EB2A-7C4B-17C469B97102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F8290B4-8AB3-86CE-1026-4DB4A19959AC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9C14076-6762-DB59-CE13-FFBE2A8832EA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15437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E6B7903-57F4-D1EB-D2E8-6A8D56E7E2CA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EAE545D-BA1D-5A69-525E-E4BDAD3B9DCC}"/>
              </a:ext>
            </a:extLst>
          </p:cNvPr>
          <p:cNvSpPr txBox="1"/>
          <p:nvPr/>
        </p:nvSpPr>
        <p:spPr>
          <a:xfrm>
            <a:off x="2282702" y="274264"/>
            <a:ext cx="3477436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11C3A"/>
                </a:solidFill>
                <a:latin typeface="Avenir LT Pro 65 Medium" panose="020B0603020203020204" pitchFamily="34" charset="0"/>
              </a:rPr>
              <a:t>Visão Executiva —  Portal B2B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72DAB81-C80C-9684-2D0B-F2AC35697B73}"/>
              </a:ext>
            </a:extLst>
          </p:cNvPr>
          <p:cNvSpPr txBox="1"/>
          <p:nvPr/>
        </p:nvSpPr>
        <p:spPr>
          <a:xfrm>
            <a:off x="-6" y="1023484"/>
            <a:ext cx="774626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rgbClr val="FC781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7CBA7A0-805B-6B51-CBDC-83416968C7BB}"/>
              </a:ext>
            </a:extLst>
          </p:cNvPr>
          <p:cNvSpPr/>
          <p:nvPr/>
        </p:nvSpPr>
        <p:spPr>
          <a:xfrm>
            <a:off x="58387" y="1379220"/>
            <a:ext cx="1573563" cy="290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5987C8-CD1C-36DC-6EEA-235F6FD30192}"/>
              </a:ext>
            </a:extLst>
          </p:cNvPr>
          <p:cNvSpPr txBox="1"/>
          <p:nvPr/>
        </p:nvSpPr>
        <p:spPr>
          <a:xfrm>
            <a:off x="-7" y="1344548"/>
            <a:ext cx="1685425" cy="176689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792F952-8623-BE5D-7065-281F8F4FE942}"/>
              </a:ext>
            </a:extLst>
          </p:cNvPr>
          <p:cNvSpPr txBox="1"/>
          <p:nvPr/>
        </p:nvSpPr>
        <p:spPr>
          <a:xfrm>
            <a:off x="-13" y="3302041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17EA86-0287-F910-77BA-2D7100CFE478}"/>
              </a:ext>
            </a:extLst>
          </p:cNvPr>
          <p:cNvSpPr txBox="1"/>
          <p:nvPr/>
        </p:nvSpPr>
        <p:spPr>
          <a:xfrm>
            <a:off x="-13" y="6536532"/>
            <a:ext cx="125731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LIMPAR FILTROS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79CBAD9-885F-7FBF-DEF9-A995D1FC4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462" y="212512"/>
            <a:ext cx="2149226" cy="51251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004E61-F26D-3BC7-0373-67AECE136F89}"/>
              </a:ext>
            </a:extLst>
          </p:cNvPr>
          <p:cNvSpPr txBox="1"/>
          <p:nvPr/>
        </p:nvSpPr>
        <p:spPr>
          <a:xfrm>
            <a:off x="2301873" y="555675"/>
            <a:ext cx="3748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2C5068"/>
                </a:solidFill>
              </a:rPr>
              <a:t>Resumo de integração, adoção e desempenho comercial.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F64E13D-31EC-3F2C-4059-8B7FBCB4A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7" y="185190"/>
            <a:ext cx="1743101" cy="636929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1E5B153-EAA7-8771-71C5-5E27CC638A9D}"/>
              </a:ext>
            </a:extLst>
          </p:cNvPr>
          <p:cNvCxnSpPr>
            <a:cxnSpLocks/>
          </p:cNvCxnSpPr>
          <p:nvPr/>
        </p:nvCxnSpPr>
        <p:spPr>
          <a:xfrm>
            <a:off x="101085" y="3203313"/>
            <a:ext cx="1686932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AE3A5F5-E8B4-C76C-A03B-4932E55E08EC}"/>
              </a:ext>
            </a:extLst>
          </p:cNvPr>
          <p:cNvSpPr/>
          <p:nvPr/>
        </p:nvSpPr>
        <p:spPr>
          <a:xfrm>
            <a:off x="2282704" y="4547607"/>
            <a:ext cx="4656008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A46AA35-F4CC-CBFA-0B74-55D15FE425FA}"/>
              </a:ext>
            </a:extLst>
          </p:cNvPr>
          <p:cNvSpPr/>
          <p:nvPr/>
        </p:nvSpPr>
        <p:spPr>
          <a:xfrm>
            <a:off x="7241107" y="4547607"/>
            <a:ext cx="4656008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ctr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F223CC2-5027-168E-C97E-14FB0F842B08}"/>
              </a:ext>
            </a:extLst>
          </p:cNvPr>
          <p:cNvSpPr/>
          <p:nvPr/>
        </p:nvSpPr>
        <p:spPr>
          <a:xfrm>
            <a:off x="2290225" y="2237216"/>
            <a:ext cx="4648486" cy="2007976"/>
          </a:xfrm>
          <a:prstGeom prst="roundRect">
            <a:avLst>
              <a:gd name="adj" fmla="val 11302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Barra de título do visual">
            <a:extLst>
              <a:ext uri="{FF2B5EF4-FFF2-40B4-BE49-F238E27FC236}">
                <a16:creationId xmlns:a16="http://schemas.microsoft.com/office/drawing/2014/main" id="{F40D0EFE-7CAD-F7AA-B387-4B866AC91641}"/>
              </a:ext>
            </a:extLst>
          </p:cNvPr>
          <p:cNvSpPr/>
          <p:nvPr/>
        </p:nvSpPr>
        <p:spPr>
          <a:xfrm>
            <a:off x="2290225" y="2237216"/>
            <a:ext cx="4648486" cy="347472"/>
          </a:xfrm>
          <a:prstGeom prst="round2SameRect">
            <a:avLst/>
          </a:prstGeom>
          <a:solidFill>
            <a:srgbClr val="01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5A062DA-B4A7-2F13-2065-D9BBD07A2694}"/>
              </a:ext>
            </a:extLst>
          </p:cNvPr>
          <p:cNvSpPr txBox="1"/>
          <p:nvPr/>
        </p:nvSpPr>
        <p:spPr>
          <a:xfrm>
            <a:off x="3430300" y="2268226"/>
            <a:ext cx="281689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venir Next W1G Medium" panose="020B0603020202020204" pitchFamily="34" charset="0"/>
              </a:rPr>
              <a:t>Situação da Base do Portal</a:t>
            </a:r>
          </a:p>
        </p:txBody>
      </p:sp>
    </p:spTree>
    <p:extLst>
      <p:ext uri="{BB962C8B-B14F-4D97-AF65-F5344CB8AC3E}">
        <p14:creationId xmlns:p14="http://schemas.microsoft.com/office/powerpoint/2010/main" val="2984520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7705156B-786A-4C6B-9CE2-DC173D8B08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  <p:sp>
        <p:nvSpPr>
          <p:cNvPr id="31" name="Retângulo: Cantos Superiores Arredondados 30">
            <a:extLst>
              <a:ext uri="{FF2B5EF4-FFF2-40B4-BE49-F238E27FC236}">
                <a16:creationId xmlns:a16="http://schemas.microsoft.com/office/drawing/2014/main" id="{1F112C23-0B1C-4890-B8B8-7F8BC2C69D1D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948E6FD-BDD0-4A93-9604-66ABA9F420FA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3A6A90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005E5-1901-4000-B0E0-39F762E4291E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3A6A90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6A0D39-5D88-48D1-A910-E50F7498E119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3A6A90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2737AC-291F-4958-92FA-F3CDFEA5E90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solidFill>
            <a:srgbClr val="3A6A90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2DE35BA-973D-4CAC-9A94-5CF3E5D4B39E}"/>
              </a:ext>
            </a:extLst>
          </p:cNvPr>
          <p:cNvSpPr/>
          <p:nvPr/>
        </p:nvSpPr>
        <p:spPr>
          <a:xfrm>
            <a:off x="2290222" y="2237216"/>
            <a:ext cx="9599378" cy="4318362"/>
          </a:xfrm>
          <a:prstGeom prst="roundRect">
            <a:avLst>
              <a:gd name="adj" fmla="val 6085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Superiores Arredondados 31">
            <a:extLst>
              <a:ext uri="{FF2B5EF4-FFF2-40B4-BE49-F238E27FC236}">
                <a16:creationId xmlns:a16="http://schemas.microsoft.com/office/drawing/2014/main" id="{B89EAE17-268A-41E1-A63C-837C05B68C9F}"/>
              </a:ext>
            </a:extLst>
          </p:cNvPr>
          <p:cNvSpPr/>
          <p:nvPr/>
        </p:nvSpPr>
        <p:spPr>
          <a:xfrm rot="5400000">
            <a:off x="697571" y="-441004"/>
            <a:ext cx="510350" cy="1905492"/>
          </a:xfrm>
          <a:prstGeom prst="round2SameRect">
            <a:avLst>
              <a:gd name="adj1" fmla="val 41768"/>
              <a:gd name="adj2" fmla="val 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A640323A-D100-42A4-B597-C7B307F8B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5" y="302400"/>
            <a:ext cx="1697483" cy="422624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F1FF9E71-E3D6-47E9-A024-5D0E1DB21481}"/>
              </a:ext>
            </a:extLst>
          </p:cNvPr>
          <p:cNvSpPr txBox="1"/>
          <p:nvPr/>
        </p:nvSpPr>
        <p:spPr>
          <a:xfrm>
            <a:off x="-7" y="1023484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PÁGINAS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D9152E7-CAC3-4475-96E4-B453416BE4FA}"/>
              </a:ext>
            </a:extLst>
          </p:cNvPr>
          <p:cNvSpPr/>
          <p:nvPr/>
        </p:nvSpPr>
        <p:spPr>
          <a:xfrm>
            <a:off x="58387" y="2807834"/>
            <a:ext cx="1573563" cy="290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444C39D-78F7-41B7-9163-37F63D6E2555}"/>
              </a:ext>
            </a:extLst>
          </p:cNvPr>
          <p:cNvSpPr txBox="1"/>
          <p:nvPr/>
        </p:nvSpPr>
        <p:spPr>
          <a:xfrm>
            <a:off x="-7" y="1344548"/>
            <a:ext cx="1685425" cy="176689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Executiva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Oportunidades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 Comercial</a:t>
            </a: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endParaRPr lang="pt-BR" sz="105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SzPct val="120000"/>
              <a:buFont typeface="Wingdings" panose="05000000000000000000" pitchFamily="2" charset="2"/>
              <a:buChar char="§"/>
            </a:pPr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0561303-7CDB-42EF-A593-843FDF2A9389}"/>
              </a:ext>
            </a:extLst>
          </p:cNvPr>
          <p:cNvSpPr txBox="1"/>
          <p:nvPr/>
        </p:nvSpPr>
        <p:spPr>
          <a:xfrm>
            <a:off x="-13" y="3302041"/>
            <a:ext cx="99012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6E1C2FC-847A-4FD9-AEDE-C90D0FFED00A}"/>
              </a:ext>
            </a:extLst>
          </p:cNvPr>
          <p:cNvSpPr txBox="1"/>
          <p:nvPr/>
        </p:nvSpPr>
        <p:spPr>
          <a:xfrm>
            <a:off x="2282703" y="274264"/>
            <a:ext cx="465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F3A4D"/>
                </a:solidFill>
                <a:latin typeface="Avenir LT Pro 65 Medium" panose="020B0603020203020204" pitchFamily="34" charset="0"/>
              </a:rPr>
              <a:t>Plano de Ação SMARTPED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9415AC-8E55-4DFF-AB0F-2BEFC27FA229}"/>
              </a:ext>
            </a:extLst>
          </p:cNvPr>
          <p:cNvSpPr txBox="1"/>
          <p:nvPr/>
        </p:nvSpPr>
        <p:spPr>
          <a:xfrm>
            <a:off x="-13" y="6536532"/>
            <a:ext cx="1257313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LIMPAR FILTROS</a:t>
            </a:r>
          </a:p>
        </p:txBody>
      </p:sp>
    </p:spTree>
    <p:extLst>
      <p:ext uri="{BB962C8B-B14F-4D97-AF65-F5344CB8AC3E}">
        <p14:creationId xmlns:p14="http://schemas.microsoft.com/office/powerpoint/2010/main" val="30781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CDA105-ECE4-499F-9819-0BC99B948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65B83BE1-11C0-44AA-9FEA-4699C6FDBCFB}"/>
              </a:ext>
            </a:extLst>
          </p:cNvPr>
          <p:cNvSpPr/>
          <p:nvPr/>
        </p:nvSpPr>
        <p:spPr>
          <a:xfrm rot="16200000">
            <a:off x="3660917" y="-1673090"/>
            <a:ext cx="6857998" cy="10204179"/>
          </a:xfrm>
          <a:prstGeom prst="round2SameRect">
            <a:avLst>
              <a:gd name="adj1" fmla="val 546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BF6F7ED-7465-498A-9175-F0B111D33FD1}"/>
              </a:ext>
            </a:extLst>
          </p:cNvPr>
          <p:cNvSpPr/>
          <p:nvPr/>
        </p:nvSpPr>
        <p:spPr>
          <a:xfrm>
            <a:off x="1987826" y="-11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BB8A25-85ED-4122-A21E-8EA37445FE6B}"/>
              </a:ext>
            </a:extLst>
          </p:cNvPr>
          <p:cNvSpPr/>
          <p:nvPr/>
        </p:nvSpPr>
        <p:spPr>
          <a:xfrm>
            <a:off x="11889603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870FADB-DBDA-4657-AC74-A4765CBD96D8}"/>
              </a:ext>
            </a:extLst>
          </p:cNvPr>
          <p:cNvSpPr/>
          <p:nvPr/>
        </p:nvSpPr>
        <p:spPr>
          <a:xfrm rot="16200000">
            <a:off x="6938716" y="1907100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66E5284-BDCB-4F59-B791-A99A06DB457C}"/>
              </a:ext>
            </a:extLst>
          </p:cNvPr>
          <p:cNvSpPr/>
          <p:nvPr/>
        </p:nvSpPr>
        <p:spPr>
          <a:xfrm rot="16200000">
            <a:off x="6938715" y="-4648489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919981-4086-4F2F-9BC0-915D44B9FD21}"/>
              </a:ext>
            </a:extLst>
          </p:cNvPr>
          <p:cNvSpPr/>
          <p:nvPr/>
        </p:nvSpPr>
        <p:spPr>
          <a:xfrm rot="16200000">
            <a:off x="6938714" y="-4346088"/>
            <a:ext cx="302400" cy="95993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81350F5-608E-437E-A939-3E6D06A30003}"/>
              </a:ext>
            </a:extLst>
          </p:cNvPr>
          <p:cNvSpPr/>
          <p:nvPr/>
        </p:nvSpPr>
        <p:spPr>
          <a:xfrm rot="16200000">
            <a:off x="6938714" y="-4043688"/>
            <a:ext cx="302400" cy="959937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F89BEEA-A3CA-467A-A8E9-014589E65975}"/>
              </a:ext>
            </a:extLst>
          </p:cNvPr>
          <p:cNvSpPr/>
          <p:nvPr/>
        </p:nvSpPr>
        <p:spPr>
          <a:xfrm>
            <a:off x="4463270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C6045B-DFDC-45A8-B726-205891B62079}"/>
              </a:ext>
            </a:extLst>
          </p:cNvPr>
          <p:cNvSpPr/>
          <p:nvPr/>
        </p:nvSpPr>
        <p:spPr>
          <a:xfrm>
            <a:off x="6938714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90D8E2-79B1-4FA3-A574-0F990C3EA950}"/>
              </a:ext>
            </a:extLst>
          </p:cNvPr>
          <p:cNvSpPr/>
          <p:nvPr/>
        </p:nvSpPr>
        <p:spPr>
          <a:xfrm>
            <a:off x="9414158" y="0"/>
            <a:ext cx="3024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948E6FD-BDD0-4A93-9604-66ABA9F420FA}"/>
              </a:ext>
            </a:extLst>
          </p:cNvPr>
          <p:cNvSpPr/>
          <p:nvPr/>
        </p:nvSpPr>
        <p:spPr>
          <a:xfrm>
            <a:off x="2290225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33005E5-1901-4000-B0E0-39F762E4291E}"/>
              </a:ext>
            </a:extLst>
          </p:cNvPr>
          <p:cNvSpPr/>
          <p:nvPr/>
        </p:nvSpPr>
        <p:spPr>
          <a:xfrm>
            <a:off x="4765669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A6A0D39-5D88-48D1-A910-E50F7498E119}"/>
              </a:ext>
            </a:extLst>
          </p:cNvPr>
          <p:cNvSpPr/>
          <p:nvPr/>
        </p:nvSpPr>
        <p:spPr>
          <a:xfrm>
            <a:off x="7241113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92737AC-291F-4958-92FA-F3CDFEA5E900}"/>
              </a:ext>
            </a:extLst>
          </p:cNvPr>
          <p:cNvSpPr/>
          <p:nvPr/>
        </p:nvSpPr>
        <p:spPr>
          <a:xfrm>
            <a:off x="9716558" y="907201"/>
            <a:ext cx="2173042" cy="102761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9222583-1D7E-42F9-B6C9-F599964CE281}"/>
              </a:ext>
            </a:extLst>
          </p:cNvPr>
          <p:cNvSpPr/>
          <p:nvPr/>
        </p:nvSpPr>
        <p:spPr>
          <a:xfrm rot="16200000">
            <a:off x="6938711" y="-2713672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4A7A036-7155-4933-B8C9-3C893CA9D5BA}"/>
              </a:ext>
            </a:extLst>
          </p:cNvPr>
          <p:cNvSpPr/>
          <p:nvPr/>
        </p:nvSpPr>
        <p:spPr>
          <a:xfrm rot="16200000">
            <a:off x="6938711" y="-403286"/>
            <a:ext cx="302400" cy="95993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2DE35BA-973D-4CAC-9A94-5CF3E5D4B39E}"/>
              </a:ext>
            </a:extLst>
          </p:cNvPr>
          <p:cNvSpPr/>
          <p:nvPr/>
        </p:nvSpPr>
        <p:spPr>
          <a:xfrm>
            <a:off x="2290225" y="2237216"/>
            <a:ext cx="4648486" cy="200797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EF09874-240D-4C03-AFF0-79BD3F53B832}"/>
              </a:ext>
            </a:extLst>
          </p:cNvPr>
          <p:cNvSpPr/>
          <p:nvPr/>
        </p:nvSpPr>
        <p:spPr>
          <a:xfrm>
            <a:off x="7241107" y="2227995"/>
            <a:ext cx="4648486" cy="200797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56A1BB63-CD8C-4D8A-9317-0E58918F9230}"/>
              </a:ext>
            </a:extLst>
          </p:cNvPr>
          <p:cNvSpPr/>
          <p:nvPr/>
        </p:nvSpPr>
        <p:spPr>
          <a:xfrm>
            <a:off x="2282704" y="4547607"/>
            <a:ext cx="4656008" cy="200797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1A057FB-33D0-4A81-8BDF-9BF9A0F84902}"/>
              </a:ext>
            </a:extLst>
          </p:cNvPr>
          <p:cNvSpPr/>
          <p:nvPr/>
        </p:nvSpPr>
        <p:spPr>
          <a:xfrm>
            <a:off x="7233585" y="4547602"/>
            <a:ext cx="4656008" cy="2007976"/>
          </a:xfrm>
          <a:prstGeom prst="roundRect">
            <a:avLst>
              <a:gd name="adj" fmla="val 1130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54363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146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Avenir LT Pro 65 Medium</vt:lpstr>
      <vt:lpstr>Avenir Next W1G Medium</vt:lpstr>
      <vt:lpstr>Calibri</vt:lpstr>
      <vt:lpstr>Calibri Light</vt:lpstr>
      <vt:lpstr>Segoe UI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NeobrasTI</dc:creator>
  <cp:lastModifiedBy>João de Melo</cp:lastModifiedBy>
  <cp:revision>37</cp:revision>
  <dcterms:created xsi:type="dcterms:W3CDTF">2026-06-29T13:59:53Z</dcterms:created>
  <dcterms:modified xsi:type="dcterms:W3CDTF">2026-08-06T23:12:34Z</dcterms:modified>
</cp:coreProperties>
</file>