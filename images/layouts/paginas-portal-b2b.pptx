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3" r:id="rId3"/>
    <p:sldId id="264" r:id="rId4"/>
    <p:sldId id="265" r:id="rId5"/>
    <p:sldId id="266" r:id="rId6"/>
    <p:sldId id="260" r:id="rId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98BB0"/>
    <a:srgbClr val="123964"/>
    <a:srgbClr val="2C5068"/>
    <a:srgbClr val="FC7819"/>
    <a:srgbClr val="154371"/>
    <a:srgbClr val="F2F2F2"/>
    <a:srgbClr val="011C3A"/>
    <a:srgbClr val="3A6A90"/>
    <a:srgbClr val="1F3A4D"/>
    <a:srgbClr val="8892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64" d="100"/>
          <a:sy n="164" d="100"/>
        </p:scale>
        <p:origin x="18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4C4002-678A-4B6A-81E1-3FF4855F0A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E60F2F3-5200-47F4-AF5F-B2108E5D10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69F2872-2C87-42D9-8949-52BA55736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AC91C-EB0E-495C-912B-3C8A99BFE46B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B6644D6-8EF3-445B-801F-5CB03C8E4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745F854-84CE-4E0A-8C3D-32DE6D01F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18799-A65F-46D9-A417-1E3F746C72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98757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C41EC3-787A-4AB6-9DF8-2A8E71BB5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A12EA5-1630-45A8-B039-F9182F5E33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F216C03-8784-47DD-B318-6D10FD2FE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AC91C-EB0E-495C-912B-3C8A99BFE46B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5DB6FF6-DDF0-406D-AB46-8B808DCE5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6795AEF-BC3A-4878-B567-A6504DE28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18799-A65F-46D9-A417-1E3F746C72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4851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CBC1C3-5F9B-4497-A000-8859AE3E2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BAC48FA-AC9D-44E0-BAB7-F4D69739A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97D9305-D482-4E9E-8228-1566285ED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AC91C-EB0E-495C-912B-3C8A99BFE46B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608D161-CF79-4B15-9323-B027CBC80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3571537-023D-4A10-8E64-2799A56C0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18799-A65F-46D9-A417-1E3F746C72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7185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7B4205-E67B-4FB4-9AD9-D5F6290CD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A2010F9-3CA4-4954-A9AD-C2BF85114A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D27071F-BEC7-469D-94E1-35A1338F04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3234D48-D46E-41D4-A99F-A02A97355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AC91C-EB0E-495C-912B-3C8A99BFE46B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02FC194-9619-4163-93D3-3D9EEE2A1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50B0538-3A23-4E16-8983-F96796954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18799-A65F-46D9-A417-1E3F746C72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7832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295595-D0FC-4A5B-A87B-4D143AE8A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F55D21D-A3DE-43B8-A777-1CFA54DD5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46D7BE0-011B-477A-9557-62BD0B3A0E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83125AD-24EB-44F2-80F2-0A35792BC3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DB23621-AF94-4453-AFCD-91827F5DA7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A0D4685-E072-4A5F-A4B8-99F29602D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AC91C-EB0E-495C-912B-3C8A99BFE46B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B086CEC-B0CB-44A0-BF11-D6688E584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1338E09-C53B-4EFB-A741-99FC95BB6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18799-A65F-46D9-A417-1E3F746C72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84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A37B5C-ABCD-4438-96B0-E579BD046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8BB4C54-DCDB-400A-A034-A6AF1AC5D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AC91C-EB0E-495C-912B-3C8A99BFE46B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06C1882-63A1-4236-8B93-26C10B428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DCD1F0E-7189-4AD8-B9FD-4F6D1DC60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18799-A65F-46D9-A417-1E3F746C72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5600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7E69864-B9DB-4718-AC75-38E738463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AC91C-EB0E-495C-912B-3C8A99BFE46B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E5A379F-F6F5-4F6A-8E07-6D43AAF59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1712A1A-DE8E-4653-B20E-07749D7C8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18799-A65F-46D9-A417-1E3F746C72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7987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EFDA95-F0FC-4784-80B5-EE3BC5EAD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4DCFFF0-7F60-4969-8B66-D6C6076856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D2C6FC2-39A9-4D2E-85CB-5C993AE8D1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2B2A4D0-D486-4FDD-8B8E-23415D211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AC91C-EB0E-495C-912B-3C8A99BFE46B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24C2C44-1D8F-4DC8-B981-1F95BD067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606CC15-31C4-4FD1-B521-37CC62EAB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18799-A65F-46D9-A417-1E3F746C72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6894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886F-C43F-4C74-ABBB-7B3047C6D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0C40F0B-E9CA-43B4-8CD1-7C1A7B90C2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6E76BF0-79B3-468A-B40D-BC6F6AEC69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B29693A-C593-4C81-82AC-5C64C61E9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AC91C-EB0E-495C-912B-3C8A99BFE46B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7591728-F0CD-46A2-8EC6-32031320C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0B6F74A-53E9-4BAE-A11B-7BE3B632F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18799-A65F-46D9-A417-1E3F746C72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1892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AFF5A9-7C68-4FEB-A676-7378BFE18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B402B8A-B30E-4438-9AF8-F3426EF5C8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1B9D0C2-4C71-46AA-86D1-A5D88557B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AC91C-EB0E-495C-912B-3C8A99BFE46B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F302589-AA33-4C7E-9870-C08D9E4CC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6A2A9EF-F090-4360-89C1-71DFC6E40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18799-A65F-46D9-A417-1E3F746C72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4340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7A940E9-0CB5-4700-ABA7-5327DE1D8F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4A4BCB5-BC53-4A5C-AD67-8A90813891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600C0A-6B77-4CDE-8770-DBE73895E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AC91C-EB0E-495C-912B-3C8A99BFE46B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496946A-CB30-409C-9EFB-91D9F13AB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774CAE-17BA-4216-9C52-E8FCC75EC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18799-A65F-46D9-A417-1E3F746C72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9922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A6AD153-80F5-46F5-BD7F-7838F683A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602A325-EAE4-46E1-B83D-C9E909208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323F0E0-7B6F-4721-A15F-77DCEECCA9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2AC91C-EB0E-495C-912B-3C8A99BFE46B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23A1388-4BCC-42CE-BCEA-45140C3831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E37604C-EFFA-4286-8305-9D59827D0A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618799-A65F-46D9-A417-1E3F746C72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8908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0.png"/><Relationship Id="rId5" Type="http://schemas.openxmlformats.org/officeDocument/2006/relationships/image" Target="../media/image8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8.png"/><Relationship Id="rId5" Type="http://schemas.openxmlformats.org/officeDocument/2006/relationships/image" Target="../media/image9.png"/><Relationship Id="rId10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11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12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9.png"/><Relationship Id="rId5" Type="http://schemas.openxmlformats.org/officeDocument/2006/relationships/image" Target="../media/image8.png"/><Relationship Id="rId10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0BCDA105-ECE4-499F-9819-0BC99B948B8A}"/>
              </a:ext>
            </a:extLst>
          </p:cNvPr>
          <p:cNvSpPr/>
          <p:nvPr/>
        </p:nvSpPr>
        <p:spPr>
          <a:xfrm>
            <a:off x="0" y="0"/>
            <a:ext cx="11923067" cy="6858000"/>
          </a:xfrm>
          <a:prstGeom prst="rect">
            <a:avLst/>
          </a:prstGeom>
          <a:solidFill>
            <a:srgbClr val="011C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05ED5AE7-4958-0A12-C56D-789CC082BFC6}"/>
              </a:ext>
            </a:extLst>
          </p:cNvPr>
          <p:cNvGrpSpPr/>
          <p:nvPr/>
        </p:nvGrpSpPr>
        <p:grpSpPr>
          <a:xfrm>
            <a:off x="26637" y="1305353"/>
            <a:ext cx="1895032" cy="292292"/>
            <a:chOff x="26637" y="1377194"/>
            <a:chExt cx="1895032" cy="292292"/>
          </a:xfrm>
        </p:grpSpPr>
        <p:sp>
          <p:nvSpPr>
            <p:cNvPr id="4" name="Retângulo: Cantos Arredondados 3">
              <a:extLst>
                <a:ext uri="{FF2B5EF4-FFF2-40B4-BE49-F238E27FC236}">
                  <a16:creationId xmlns:a16="http://schemas.microsoft.com/office/drawing/2014/main" id="{4A76B488-56B2-4DF7-A077-25F3136143A4}"/>
                </a:ext>
              </a:extLst>
            </p:cNvPr>
            <p:cNvSpPr/>
            <p:nvPr/>
          </p:nvSpPr>
          <p:spPr>
            <a:xfrm>
              <a:off x="26637" y="1379220"/>
              <a:ext cx="1895032" cy="290266"/>
            </a:xfrm>
            <a:prstGeom prst="roundRect">
              <a:avLst/>
            </a:prstGeom>
            <a:solidFill>
              <a:srgbClr val="154371"/>
            </a:solidFill>
            <a:ln>
              <a:noFill/>
            </a:ln>
            <a:effectLst>
              <a:outerShdw blurRad="152400" dist="63500" sx="93000" sy="93000" algn="ctr" rotWithShape="0">
                <a:schemeClr val="bg1">
                  <a:lumMod val="75000"/>
                  <a:alpha val="7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24" name="Retângulo: Cantos Arredondados 23">
              <a:extLst>
                <a:ext uri="{FF2B5EF4-FFF2-40B4-BE49-F238E27FC236}">
                  <a16:creationId xmlns:a16="http://schemas.microsoft.com/office/drawing/2014/main" id="{0A9E9271-D14E-41F6-9257-7ECC914DF094}"/>
                </a:ext>
              </a:extLst>
            </p:cNvPr>
            <p:cNvSpPr/>
            <p:nvPr/>
          </p:nvSpPr>
          <p:spPr>
            <a:xfrm>
              <a:off x="26775" y="1377194"/>
              <a:ext cx="36000" cy="290266"/>
            </a:xfrm>
            <a:prstGeom prst="roundRect">
              <a:avLst/>
            </a:prstGeom>
            <a:solidFill>
              <a:srgbClr val="FC781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" name="Retângulo: Cantos Superiores Arredondados 2">
            <a:extLst>
              <a:ext uri="{FF2B5EF4-FFF2-40B4-BE49-F238E27FC236}">
                <a16:creationId xmlns:a16="http://schemas.microsoft.com/office/drawing/2014/main" id="{65B83BE1-11C0-44AA-9FEA-4699C6FDBCFB}"/>
              </a:ext>
            </a:extLst>
          </p:cNvPr>
          <p:cNvSpPr/>
          <p:nvPr/>
        </p:nvSpPr>
        <p:spPr>
          <a:xfrm rot="16200000">
            <a:off x="3660917" y="-1673090"/>
            <a:ext cx="6857998" cy="10204179"/>
          </a:xfrm>
          <a:prstGeom prst="round2SameRect">
            <a:avLst>
              <a:gd name="adj1" fmla="val 5460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933005E5-1901-4000-B0E0-39F762E4291E}"/>
              </a:ext>
            </a:extLst>
          </p:cNvPr>
          <p:cNvSpPr/>
          <p:nvPr/>
        </p:nvSpPr>
        <p:spPr>
          <a:xfrm>
            <a:off x="2301874" y="907201"/>
            <a:ext cx="4636838" cy="1027616"/>
          </a:xfrm>
          <a:prstGeom prst="roundRect">
            <a:avLst>
              <a:gd name="adj" fmla="val 11302"/>
            </a:avLst>
          </a:prstGeom>
          <a:solidFill>
            <a:srgbClr val="154371"/>
          </a:solidFill>
          <a:ln>
            <a:noFill/>
          </a:ln>
          <a:effectLst>
            <a:outerShdw blurRad="152400" dist="38100" dir="2700000" algn="t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7A6A0D39-5D88-48D1-A910-E50F7498E119}"/>
              </a:ext>
            </a:extLst>
          </p:cNvPr>
          <p:cNvSpPr/>
          <p:nvPr/>
        </p:nvSpPr>
        <p:spPr>
          <a:xfrm>
            <a:off x="7241113" y="907201"/>
            <a:ext cx="2173042" cy="1027616"/>
          </a:xfrm>
          <a:prstGeom prst="roundRect">
            <a:avLst>
              <a:gd name="adj" fmla="val 11302"/>
            </a:avLst>
          </a:prstGeom>
          <a:solidFill>
            <a:srgbClr val="154371"/>
          </a:solidFill>
          <a:ln>
            <a:noFill/>
          </a:ln>
          <a:effectLst>
            <a:outerShdw blurRad="152400" dist="38100" dir="2700000" algn="t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E92737AC-291F-4958-92FA-F3CDFEA5E900}"/>
              </a:ext>
            </a:extLst>
          </p:cNvPr>
          <p:cNvSpPr/>
          <p:nvPr/>
        </p:nvSpPr>
        <p:spPr>
          <a:xfrm>
            <a:off x="9716558" y="907201"/>
            <a:ext cx="2173042" cy="1027616"/>
          </a:xfrm>
          <a:prstGeom prst="roundRect">
            <a:avLst>
              <a:gd name="adj" fmla="val 11302"/>
            </a:avLst>
          </a:prstGeom>
          <a:solidFill>
            <a:srgbClr val="154371"/>
          </a:solidFill>
          <a:ln>
            <a:noFill/>
          </a:ln>
          <a:effectLst>
            <a:outerShdw blurRad="152400" dist="38100" dir="2700000" algn="t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02DE35BA-973D-4CAC-9A94-5CF3E5D4B39E}"/>
              </a:ext>
            </a:extLst>
          </p:cNvPr>
          <p:cNvSpPr/>
          <p:nvPr/>
        </p:nvSpPr>
        <p:spPr>
          <a:xfrm>
            <a:off x="2290225" y="2237216"/>
            <a:ext cx="4648486" cy="2007976"/>
          </a:xfrm>
          <a:prstGeom prst="roundRect">
            <a:avLst>
              <a:gd name="adj" fmla="val 11302"/>
            </a:avLst>
          </a:prstGeom>
          <a:solidFill>
            <a:schemeClr val="bg1"/>
          </a:solidFill>
          <a:ln>
            <a:noFill/>
          </a:ln>
          <a:effectLst>
            <a:outerShdw blurRad="152400" dist="38100" dir="2700000" algn="t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CEF09874-240D-4C03-AFF0-79BD3F53B832}"/>
              </a:ext>
            </a:extLst>
          </p:cNvPr>
          <p:cNvSpPr/>
          <p:nvPr/>
        </p:nvSpPr>
        <p:spPr>
          <a:xfrm>
            <a:off x="7241107" y="2227995"/>
            <a:ext cx="4648486" cy="2007976"/>
          </a:xfrm>
          <a:prstGeom prst="roundRect">
            <a:avLst>
              <a:gd name="adj" fmla="val 11302"/>
            </a:avLst>
          </a:prstGeom>
          <a:solidFill>
            <a:schemeClr val="bg1"/>
          </a:solidFill>
          <a:ln>
            <a:noFill/>
          </a:ln>
          <a:effectLst>
            <a:outerShdw blurRad="152400" dist="38100" dir="2700000" algn="t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56A1BB63-CD8C-4D8A-9317-0E58918F9230}"/>
              </a:ext>
            </a:extLst>
          </p:cNvPr>
          <p:cNvSpPr/>
          <p:nvPr/>
        </p:nvSpPr>
        <p:spPr>
          <a:xfrm>
            <a:off x="2282703" y="4547607"/>
            <a:ext cx="9599377" cy="2007976"/>
          </a:xfrm>
          <a:prstGeom prst="roundRect">
            <a:avLst>
              <a:gd name="adj" fmla="val 11302"/>
            </a:avLst>
          </a:prstGeom>
          <a:solidFill>
            <a:schemeClr val="bg1"/>
          </a:solidFill>
          <a:ln>
            <a:noFill/>
          </a:ln>
          <a:effectLst>
            <a:outerShdw blurRad="152400" dist="38100" dir="2700000" algn="t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6DB08790-87BD-4703-9BFD-3DE98F4D4C37}"/>
              </a:ext>
            </a:extLst>
          </p:cNvPr>
          <p:cNvSpPr txBox="1"/>
          <p:nvPr/>
        </p:nvSpPr>
        <p:spPr>
          <a:xfrm>
            <a:off x="2282702" y="274264"/>
            <a:ext cx="3477436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11C3A"/>
                </a:solidFill>
                <a:latin typeface="Avenir LT Pro 65 Medium" panose="020B0603020203020204" pitchFamily="34" charset="0"/>
              </a:rPr>
              <a:t>Visão Executiva —  Portal B2B 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6DF588E-52FE-70D0-C7CD-DBEF51815D6D}"/>
              </a:ext>
            </a:extLst>
          </p:cNvPr>
          <p:cNvSpPr txBox="1"/>
          <p:nvPr/>
        </p:nvSpPr>
        <p:spPr>
          <a:xfrm>
            <a:off x="-6" y="951643"/>
            <a:ext cx="774626" cy="25391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pt-BR" sz="1050" b="1" dirty="0">
                <a:solidFill>
                  <a:srgbClr val="FC781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PÁGINAS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DF623C0-3748-C121-678C-64BD95AFED17}"/>
              </a:ext>
            </a:extLst>
          </p:cNvPr>
          <p:cNvSpPr txBox="1"/>
          <p:nvPr/>
        </p:nvSpPr>
        <p:spPr>
          <a:xfrm>
            <a:off x="-13" y="3660599"/>
            <a:ext cx="990121" cy="25391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pt-BR" sz="1050" b="1" dirty="0">
                <a:solidFill>
                  <a:srgbClr val="FC781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FILTROS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9521832C-2C14-3660-35A6-34A62D0D27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462" y="212512"/>
            <a:ext cx="2149226" cy="512512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18812D6F-E4E6-D451-9351-64704C0E5269}"/>
              </a:ext>
            </a:extLst>
          </p:cNvPr>
          <p:cNvSpPr txBox="1"/>
          <p:nvPr/>
        </p:nvSpPr>
        <p:spPr>
          <a:xfrm>
            <a:off x="2301873" y="555675"/>
            <a:ext cx="37480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rgbClr val="2C5068"/>
                </a:solidFill>
              </a:rPr>
              <a:t>Resumo de integração, adoção e desempenho comercial.</a:t>
            </a:r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8B55061F-CF68-2E0F-E6C5-81C843E1DC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57" y="185190"/>
            <a:ext cx="1743101" cy="636929"/>
          </a:xfrm>
          <a:prstGeom prst="rect">
            <a:avLst/>
          </a:prstGeom>
        </p:spPr>
      </p:pic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48ED8542-0F90-BE86-BE9F-8199C4A3BA4B}"/>
              </a:ext>
            </a:extLst>
          </p:cNvPr>
          <p:cNvCxnSpPr>
            <a:cxnSpLocks/>
          </p:cNvCxnSpPr>
          <p:nvPr/>
        </p:nvCxnSpPr>
        <p:spPr>
          <a:xfrm>
            <a:off x="101085" y="3596292"/>
            <a:ext cx="1686932" cy="0"/>
          </a:xfrm>
          <a:prstGeom prst="line">
            <a:avLst/>
          </a:prstGeom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m 5">
            <a:extLst>
              <a:ext uri="{FF2B5EF4-FFF2-40B4-BE49-F238E27FC236}">
                <a16:creationId xmlns:a16="http://schemas.microsoft.com/office/drawing/2014/main" id="{40408DB5-3B7C-44F1-B993-8F5CCBD8A9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87" y="1333817"/>
            <a:ext cx="233339" cy="233339"/>
          </a:xfrm>
          <a:prstGeom prst="rect">
            <a:avLst/>
          </a:prstGeom>
        </p:spPr>
      </p:pic>
      <p:grpSp>
        <p:nvGrpSpPr>
          <p:cNvPr id="43" name="Agrupar 42">
            <a:extLst>
              <a:ext uri="{FF2B5EF4-FFF2-40B4-BE49-F238E27FC236}">
                <a16:creationId xmlns:a16="http://schemas.microsoft.com/office/drawing/2014/main" id="{D89F24FE-8115-48E5-23A7-809764E15F9B}"/>
              </a:ext>
            </a:extLst>
          </p:cNvPr>
          <p:cNvGrpSpPr/>
          <p:nvPr/>
        </p:nvGrpSpPr>
        <p:grpSpPr>
          <a:xfrm>
            <a:off x="2410255" y="972000"/>
            <a:ext cx="612000" cy="575209"/>
            <a:chOff x="2410255" y="1063788"/>
            <a:chExt cx="625831" cy="575209"/>
          </a:xfrm>
        </p:grpSpPr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5B95B769-C473-DB4F-1943-1E667259DFB4}"/>
                </a:ext>
              </a:extLst>
            </p:cNvPr>
            <p:cNvSpPr/>
            <p:nvPr/>
          </p:nvSpPr>
          <p:spPr>
            <a:xfrm>
              <a:off x="2410255" y="1063788"/>
              <a:ext cx="625831" cy="575209"/>
            </a:xfrm>
            <a:prstGeom prst="ellipse">
              <a:avLst/>
            </a:prstGeom>
            <a:solidFill>
              <a:srgbClr val="123964"/>
            </a:solidFill>
            <a:ln>
              <a:solidFill>
                <a:srgbClr val="698BB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31" name="Imagem 30">
              <a:extLst>
                <a:ext uri="{FF2B5EF4-FFF2-40B4-BE49-F238E27FC236}">
                  <a16:creationId xmlns:a16="http://schemas.microsoft.com/office/drawing/2014/main" id="{BDD8ACA9-4FFB-8F82-892A-E922BBF11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23991" y="1150442"/>
              <a:ext cx="403884" cy="403884"/>
            </a:xfrm>
            <a:prstGeom prst="rect">
              <a:avLst/>
            </a:prstGeom>
          </p:spPr>
        </p:pic>
      </p:grpSp>
      <p:grpSp>
        <p:nvGrpSpPr>
          <p:cNvPr id="41" name="Agrupar 40">
            <a:extLst>
              <a:ext uri="{FF2B5EF4-FFF2-40B4-BE49-F238E27FC236}">
                <a16:creationId xmlns:a16="http://schemas.microsoft.com/office/drawing/2014/main" id="{371FE5D9-135B-9E87-91B4-4AF390F786A9}"/>
              </a:ext>
            </a:extLst>
          </p:cNvPr>
          <p:cNvGrpSpPr/>
          <p:nvPr/>
        </p:nvGrpSpPr>
        <p:grpSpPr>
          <a:xfrm>
            <a:off x="7349791" y="972000"/>
            <a:ext cx="612000" cy="575209"/>
            <a:chOff x="7349791" y="1065600"/>
            <a:chExt cx="625831" cy="575209"/>
          </a:xfrm>
        </p:grpSpPr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FF2C6EAA-E44A-4C84-9FBB-0F94D9950CA7}"/>
                </a:ext>
              </a:extLst>
            </p:cNvPr>
            <p:cNvSpPr/>
            <p:nvPr/>
          </p:nvSpPr>
          <p:spPr>
            <a:xfrm>
              <a:off x="7349791" y="1065600"/>
              <a:ext cx="625831" cy="575209"/>
            </a:xfrm>
            <a:prstGeom prst="ellipse">
              <a:avLst/>
            </a:prstGeom>
            <a:solidFill>
              <a:srgbClr val="123964"/>
            </a:solidFill>
            <a:ln>
              <a:solidFill>
                <a:srgbClr val="698BB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33" name="Imagem 32">
              <a:extLst>
                <a:ext uri="{FF2B5EF4-FFF2-40B4-BE49-F238E27FC236}">
                  <a16:creationId xmlns:a16="http://schemas.microsoft.com/office/drawing/2014/main" id="{B8FF4811-50AF-2576-963C-A996FA494BE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28005" y="1122899"/>
              <a:ext cx="482465" cy="482465"/>
            </a:xfrm>
            <a:prstGeom prst="rect">
              <a:avLst/>
            </a:prstGeom>
          </p:spPr>
        </p:pic>
      </p:grpSp>
      <p:grpSp>
        <p:nvGrpSpPr>
          <p:cNvPr id="42" name="Agrupar 41">
            <a:extLst>
              <a:ext uri="{FF2B5EF4-FFF2-40B4-BE49-F238E27FC236}">
                <a16:creationId xmlns:a16="http://schemas.microsoft.com/office/drawing/2014/main" id="{5FE772A4-3621-D151-179E-0EBAE0386D5A}"/>
              </a:ext>
            </a:extLst>
          </p:cNvPr>
          <p:cNvGrpSpPr/>
          <p:nvPr/>
        </p:nvGrpSpPr>
        <p:grpSpPr>
          <a:xfrm>
            <a:off x="9807869" y="972000"/>
            <a:ext cx="612000" cy="575209"/>
            <a:chOff x="9807869" y="1065600"/>
            <a:chExt cx="625831" cy="575209"/>
          </a:xfrm>
        </p:grpSpPr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A27E7D20-915A-A493-07FE-14540B4564E2}"/>
                </a:ext>
              </a:extLst>
            </p:cNvPr>
            <p:cNvSpPr/>
            <p:nvPr/>
          </p:nvSpPr>
          <p:spPr>
            <a:xfrm>
              <a:off x="9807869" y="1065600"/>
              <a:ext cx="625831" cy="575209"/>
            </a:xfrm>
            <a:prstGeom prst="ellipse">
              <a:avLst/>
            </a:prstGeom>
            <a:solidFill>
              <a:srgbClr val="123964"/>
            </a:solidFill>
            <a:ln>
              <a:solidFill>
                <a:srgbClr val="698BB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35" name="Imagem 34">
              <a:extLst>
                <a:ext uri="{FF2B5EF4-FFF2-40B4-BE49-F238E27FC236}">
                  <a16:creationId xmlns:a16="http://schemas.microsoft.com/office/drawing/2014/main" id="{0DD3EC17-083C-B3E8-BCFE-6473D8E1DA6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98296" y="1134464"/>
              <a:ext cx="448546" cy="448546"/>
            </a:xfrm>
            <a:prstGeom prst="rect">
              <a:avLst/>
            </a:prstGeom>
          </p:spPr>
        </p:pic>
      </p:grpSp>
      <p:grpSp>
        <p:nvGrpSpPr>
          <p:cNvPr id="8" name="Agrupar 7">
            <a:extLst>
              <a:ext uri="{FF2B5EF4-FFF2-40B4-BE49-F238E27FC236}">
                <a16:creationId xmlns:a16="http://schemas.microsoft.com/office/drawing/2014/main" id="{B362AAE0-835B-67B0-37B5-78EC388E39CB}"/>
              </a:ext>
            </a:extLst>
          </p:cNvPr>
          <p:cNvGrpSpPr/>
          <p:nvPr/>
        </p:nvGrpSpPr>
        <p:grpSpPr>
          <a:xfrm>
            <a:off x="62775" y="6565651"/>
            <a:ext cx="1322105" cy="245197"/>
            <a:chOff x="-12" y="6565651"/>
            <a:chExt cx="1322105" cy="245197"/>
          </a:xfrm>
        </p:grpSpPr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5613C454-721B-449B-927E-B834C9322CA7}"/>
                </a:ext>
              </a:extLst>
            </p:cNvPr>
            <p:cNvSpPr txBox="1"/>
            <p:nvPr/>
          </p:nvSpPr>
          <p:spPr>
            <a:xfrm>
              <a:off x="-12" y="6577300"/>
              <a:ext cx="1030896" cy="215444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pt-BR" sz="8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LIMPAR FILTROS</a:t>
              </a:r>
            </a:p>
          </p:txBody>
        </p:sp>
        <p:sp>
          <p:nvSpPr>
            <p:cNvPr id="36" name="Retângulo: Cantos Arredondados 35">
              <a:extLst>
                <a:ext uri="{FF2B5EF4-FFF2-40B4-BE49-F238E27FC236}">
                  <a16:creationId xmlns:a16="http://schemas.microsoft.com/office/drawing/2014/main" id="{D20EC632-99B0-F3D5-9D38-D9C842B660C8}"/>
                </a:ext>
              </a:extLst>
            </p:cNvPr>
            <p:cNvSpPr/>
            <p:nvPr/>
          </p:nvSpPr>
          <p:spPr>
            <a:xfrm>
              <a:off x="30980" y="6565651"/>
              <a:ext cx="1291113" cy="245197"/>
            </a:xfrm>
            <a:prstGeom prst="round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38" name="Imagem 37">
              <a:extLst>
                <a:ext uri="{FF2B5EF4-FFF2-40B4-BE49-F238E27FC236}">
                  <a16:creationId xmlns:a16="http://schemas.microsoft.com/office/drawing/2014/main" id="{E68E34D8-DAEE-EF58-5CEC-E03523B15E2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7088" y="6583613"/>
              <a:ext cx="211077" cy="211077"/>
            </a:xfrm>
            <a:prstGeom prst="rect">
              <a:avLst/>
            </a:prstGeom>
          </p:spPr>
        </p:pic>
      </p:grpSp>
      <p:sp>
        <p:nvSpPr>
          <p:cNvPr id="29" name="Barra de título do visual">
            <a:extLst>
              <a:ext uri="{FF2B5EF4-FFF2-40B4-BE49-F238E27FC236}">
                <a16:creationId xmlns:a16="http://schemas.microsoft.com/office/drawing/2014/main" id="{7613224F-83FC-97DD-1BF3-F086C352838C}"/>
              </a:ext>
            </a:extLst>
          </p:cNvPr>
          <p:cNvSpPr/>
          <p:nvPr/>
        </p:nvSpPr>
        <p:spPr>
          <a:xfrm>
            <a:off x="2290225" y="2237216"/>
            <a:ext cx="4648486" cy="241200"/>
          </a:xfrm>
          <a:prstGeom prst="round2SameRect">
            <a:avLst/>
          </a:prstGeom>
          <a:solidFill>
            <a:srgbClr val="01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Barra de título do visual">
            <a:extLst>
              <a:ext uri="{FF2B5EF4-FFF2-40B4-BE49-F238E27FC236}">
                <a16:creationId xmlns:a16="http://schemas.microsoft.com/office/drawing/2014/main" id="{FE4FA7B8-9949-3BFE-5267-E2FF3F2722EA}"/>
              </a:ext>
            </a:extLst>
          </p:cNvPr>
          <p:cNvSpPr/>
          <p:nvPr/>
        </p:nvSpPr>
        <p:spPr>
          <a:xfrm>
            <a:off x="7241107" y="2227995"/>
            <a:ext cx="4648486" cy="241200"/>
          </a:xfrm>
          <a:prstGeom prst="round2SameRect">
            <a:avLst/>
          </a:prstGeom>
          <a:solidFill>
            <a:srgbClr val="01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Barra de título do visual">
            <a:extLst>
              <a:ext uri="{FF2B5EF4-FFF2-40B4-BE49-F238E27FC236}">
                <a16:creationId xmlns:a16="http://schemas.microsoft.com/office/drawing/2014/main" id="{CC2865F8-EDB4-1525-2B3A-CC1F97DA9D0F}"/>
              </a:ext>
            </a:extLst>
          </p:cNvPr>
          <p:cNvSpPr/>
          <p:nvPr/>
        </p:nvSpPr>
        <p:spPr>
          <a:xfrm>
            <a:off x="2282703" y="4547607"/>
            <a:ext cx="9599377" cy="241200"/>
          </a:xfrm>
          <a:prstGeom prst="round2SameRect">
            <a:avLst/>
          </a:prstGeom>
          <a:solidFill>
            <a:srgbClr val="01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B3F7FA27-B272-3B29-C7FA-B9F0CCB02D96}"/>
              </a:ext>
            </a:extLst>
          </p:cNvPr>
          <p:cNvSpPr txBox="1"/>
          <p:nvPr/>
        </p:nvSpPr>
        <p:spPr>
          <a:xfrm>
            <a:off x="3504432" y="2227995"/>
            <a:ext cx="222007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300" dirty="0">
                <a:solidFill>
                  <a:schemeClr val="bg1"/>
                </a:solidFill>
                <a:latin typeface="Avenir Next W1G Medium" panose="020B0603020202020204" pitchFamily="34" charset="0"/>
              </a:rPr>
              <a:t>Situação da </a:t>
            </a:r>
            <a:r>
              <a:rPr lang="pt-BR" sz="1200" dirty="0">
                <a:solidFill>
                  <a:schemeClr val="bg1"/>
                </a:solidFill>
                <a:latin typeface="Avenir Next W1G Medium" panose="020B0603020202020204" pitchFamily="34" charset="0"/>
              </a:rPr>
              <a:t>Base</a:t>
            </a:r>
            <a:r>
              <a:rPr lang="pt-BR" sz="1300" dirty="0">
                <a:solidFill>
                  <a:schemeClr val="bg1"/>
                </a:solidFill>
                <a:latin typeface="Avenir Next W1G Medium" panose="020B0603020202020204" pitchFamily="34" charset="0"/>
              </a:rPr>
              <a:t> do Portal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8A724EA4-0A02-4DBA-FD84-25A4C608FBA0}"/>
              </a:ext>
            </a:extLst>
          </p:cNvPr>
          <p:cNvSpPr txBox="1"/>
          <p:nvPr/>
        </p:nvSpPr>
        <p:spPr>
          <a:xfrm>
            <a:off x="8295884" y="2216196"/>
            <a:ext cx="2538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  <a:latin typeface="Avenir Next W1G Medium" panose="020B0603020202020204" pitchFamily="34" charset="0"/>
              </a:rPr>
              <a:t>Funil de Adoção do Portal B2B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763B639C-CFD6-114D-3E03-37F9BE924766}"/>
              </a:ext>
            </a:extLst>
          </p:cNvPr>
          <p:cNvSpPr txBox="1"/>
          <p:nvPr/>
        </p:nvSpPr>
        <p:spPr>
          <a:xfrm>
            <a:off x="6008663" y="4532435"/>
            <a:ext cx="21474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  <a:latin typeface="Avenir Next W1G Medium" panose="020B0603020202020204" pitchFamily="34" charset="0"/>
              </a:rPr>
              <a:t>Vendas do Portal por mês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415E1ED8-0F7E-1BAB-B8F9-AFD03518C49D}"/>
              </a:ext>
            </a:extLst>
          </p:cNvPr>
          <p:cNvSpPr txBox="1"/>
          <p:nvPr/>
        </p:nvSpPr>
        <p:spPr>
          <a:xfrm>
            <a:off x="286268" y="1272707"/>
            <a:ext cx="1802670" cy="214116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SzPct val="120000"/>
            </a:pPr>
            <a:r>
              <a:rPr lang="pt-BR" sz="1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Visão Executiva</a:t>
            </a:r>
          </a:p>
          <a:p>
            <a:pPr marL="171450" indent="-171450">
              <a:lnSpc>
                <a:spcPct val="150000"/>
              </a:lnSpc>
              <a:buSzPct val="120000"/>
              <a:buFont typeface="Wingdings" panose="05000000000000000000" pitchFamily="2" charset="2"/>
              <a:buChar char="§"/>
            </a:pPr>
            <a:endParaRPr lang="pt-BR" sz="10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  <a:buSzPct val="120000"/>
            </a:pPr>
            <a:r>
              <a:rPr lang="pt-BR" sz="10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Funil &amp; Oportunidades</a:t>
            </a:r>
          </a:p>
          <a:p>
            <a:pPr marL="171450" indent="-171450">
              <a:lnSpc>
                <a:spcPct val="150000"/>
              </a:lnSpc>
              <a:buSzPct val="120000"/>
              <a:buFont typeface="Wingdings" panose="05000000000000000000" pitchFamily="2" charset="2"/>
              <a:buChar char="§"/>
            </a:pPr>
            <a:endParaRPr lang="pt-BR" sz="10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  <a:buSzPct val="120000"/>
            </a:pPr>
            <a:r>
              <a:rPr lang="pt-BR" sz="10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Resultado Comercial</a:t>
            </a:r>
          </a:p>
          <a:p>
            <a:pPr>
              <a:lnSpc>
                <a:spcPct val="150000"/>
              </a:lnSpc>
              <a:buSzPct val="120000"/>
            </a:pPr>
            <a:endParaRPr lang="pt-BR" sz="10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  <a:buSzPct val="120000"/>
            </a:pPr>
            <a:r>
              <a:rPr lang="pt-BR" sz="10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Evolução &amp; Comparativos</a:t>
            </a:r>
          </a:p>
          <a:p>
            <a:pPr marL="171450" indent="-171450">
              <a:lnSpc>
                <a:spcPct val="150000"/>
              </a:lnSpc>
              <a:buSzPct val="120000"/>
              <a:buFont typeface="Wingdings" panose="05000000000000000000" pitchFamily="2" charset="2"/>
              <a:buChar char="§"/>
            </a:pPr>
            <a:endParaRPr lang="pt-BR" sz="10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  <a:buSzPct val="120000"/>
            </a:pPr>
            <a:r>
              <a:rPr lang="pt-BR" sz="10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Plano de Ação</a:t>
            </a:r>
          </a:p>
        </p:txBody>
      </p:sp>
      <p:pic>
        <p:nvPicPr>
          <p:cNvPr id="45" name="Imagem 44">
            <a:extLst>
              <a:ext uri="{FF2B5EF4-FFF2-40B4-BE49-F238E27FC236}">
                <a16:creationId xmlns:a16="http://schemas.microsoft.com/office/drawing/2014/main" id="{6140A5BC-FCBC-0A26-C747-071B2BCE8C6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86" y="1800004"/>
            <a:ext cx="233339" cy="233339"/>
          </a:xfrm>
          <a:prstGeom prst="rect">
            <a:avLst/>
          </a:prstGeom>
        </p:spPr>
      </p:pic>
      <p:pic>
        <p:nvPicPr>
          <p:cNvPr id="46" name="Imagem 45">
            <a:extLst>
              <a:ext uri="{FF2B5EF4-FFF2-40B4-BE49-F238E27FC236}">
                <a16:creationId xmlns:a16="http://schemas.microsoft.com/office/drawing/2014/main" id="{BAD7A9B9-8229-E67C-67FD-1BE68B3BCF8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81" y="2231974"/>
            <a:ext cx="245444" cy="245444"/>
          </a:xfrm>
          <a:prstGeom prst="rect">
            <a:avLst/>
          </a:prstGeom>
        </p:spPr>
      </p:pic>
      <p:pic>
        <p:nvPicPr>
          <p:cNvPr id="48" name="Imagem 47">
            <a:extLst>
              <a:ext uri="{FF2B5EF4-FFF2-40B4-BE49-F238E27FC236}">
                <a16:creationId xmlns:a16="http://schemas.microsoft.com/office/drawing/2014/main" id="{82F96718-983A-5F92-D5E9-BBF57E378E0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01" y="3134684"/>
            <a:ext cx="246932" cy="246932"/>
          </a:xfrm>
          <a:prstGeom prst="rect">
            <a:avLst/>
          </a:prstGeom>
        </p:spPr>
      </p:pic>
      <p:pic>
        <p:nvPicPr>
          <p:cNvPr id="49" name="Imagem 48">
            <a:extLst>
              <a:ext uri="{FF2B5EF4-FFF2-40B4-BE49-F238E27FC236}">
                <a16:creationId xmlns:a16="http://schemas.microsoft.com/office/drawing/2014/main" id="{DCB8B785-410E-75E3-0618-37B1E78BBFC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81" y="2700244"/>
            <a:ext cx="245444" cy="24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703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83CCD-3DD5-8B4A-1DDB-D65A4348D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50C4A20-2B77-1E8C-9C2D-68ADBB3A045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1C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B20EC7BF-2CF1-3B7E-C9E9-6C8D3A824BE5}"/>
              </a:ext>
            </a:extLst>
          </p:cNvPr>
          <p:cNvGrpSpPr/>
          <p:nvPr/>
        </p:nvGrpSpPr>
        <p:grpSpPr>
          <a:xfrm>
            <a:off x="26637" y="1755839"/>
            <a:ext cx="1895032" cy="292292"/>
            <a:chOff x="26637" y="1377194"/>
            <a:chExt cx="1895032" cy="292292"/>
          </a:xfrm>
        </p:grpSpPr>
        <p:sp>
          <p:nvSpPr>
            <p:cNvPr id="4" name="Retângulo: Cantos Arredondados 3">
              <a:extLst>
                <a:ext uri="{FF2B5EF4-FFF2-40B4-BE49-F238E27FC236}">
                  <a16:creationId xmlns:a16="http://schemas.microsoft.com/office/drawing/2014/main" id="{3210C993-5962-9C7D-87B5-DADE7B229F72}"/>
                </a:ext>
              </a:extLst>
            </p:cNvPr>
            <p:cNvSpPr/>
            <p:nvPr/>
          </p:nvSpPr>
          <p:spPr>
            <a:xfrm>
              <a:off x="26637" y="1379220"/>
              <a:ext cx="1895032" cy="290266"/>
            </a:xfrm>
            <a:prstGeom prst="roundRect">
              <a:avLst/>
            </a:prstGeom>
            <a:solidFill>
              <a:srgbClr val="154371"/>
            </a:solidFill>
            <a:ln>
              <a:noFill/>
            </a:ln>
            <a:effectLst>
              <a:outerShdw blurRad="152400" dist="63500" sx="93000" sy="93000" algn="ctr" rotWithShape="0">
                <a:schemeClr val="bg1">
                  <a:lumMod val="75000"/>
                  <a:alpha val="7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24" name="Retângulo: Cantos Arredondados 23">
              <a:extLst>
                <a:ext uri="{FF2B5EF4-FFF2-40B4-BE49-F238E27FC236}">
                  <a16:creationId xmlns:a16="http://schemas.microsoft.com/office/drawing/2014/main" id="{281A8A10-9B2A-B026-8DC3-F3BE959A9DE7}"/>
                </a:ext>
              </a:extLst>
            </p:cNvPr>
            <p:cNvSpPr/>
            <p:nvPr/>
          </p:nvSpPr>
          <p:spPr>
            <a:xfrm>
              <a:off x="26775" y="1377194"/>
              <a:ext cx="36000" cy="290266"/>
            </a:xfrm>
            <a:prstGeom prst="roundRect">
              <a:avLst/>
            </a:prstGeom>
            <a:solidFill>
              <a:srgbClr val="FC781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" name="Retângulo: Cantos Superiores Arredondados 2">
            <a:extLst>
              <a:ext uri="{FF2B5EF4-FFF2-40B4-BE49-F238E27FC236}">
                <a16:creationId xmlns:a16="http://schemas.microsoft.com/office/drawing/2014/main" id="{0DE12A93-9AC2-45BB-9EEF-92EC497C730C}"/>
              </a:ext>
            </a:extLst>
          </p:cNvPr>
          <p:cNvSpPr/>
          <p:nvPr/>
        </p:nvSpPr>
        <p:spPr>
          <a:xfrm rot="16200000">
            <a:off x="3660917" y="-1667266"/>
            <a:ext cx="6857998" cy="10204179"/>
          </a:xfrm>
          <a:prstGeom prst="round2SameRect">
            <a:avLst>
              <a:gd name="adj1" fmla="val 5460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5BA4724E-08D3-A6E1-8098-461B80FE407D}"/>
              </a:ext>
            </a:extLst>
          </p:cNvPr>
          <p:cNvSpPr/>
          <p:nvPr/>
        </p:nvSpPr>
        <p:spPr>
          <a:xfrm>
            <a:off x="7241113" y="907201"/>
            <a:ext cx="2173042" cy="1027616"/>
          </a:xfrm>
          <a:prstGeom prst="roundRect">
            <a:avLst>
              <a:gd name="adj" fmla="val 11302"/>
            </a:avLst>
          </a:prstGeom>
          <a:solidFill>
            <a:srgbClr val="154371"/>
          </a:solidFill>
          <a:ln>
            <a:noFill/>
          </a:ln>
          <a:effectLst>
            <a:outerShdw blurRad="152400" dist="38100" dir="2700000" algn="t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BA7C96D4-66F6-A06B-DBEC-27402A324921}"/>
              </a:ext>
            </a:extLst>
          </p:cNvPr>
          <p:cNvSpPr/>
          <p:nvPr/>
        </p:nvSpPr>
        <p:spPr>
          <a:xfrm>
            <a:off x="9716558" y="907201"/>
            <a:ext cx="2173042" cy="1027616"/>
          </a:xfrm>
          <a:prstGeom prst="roundRect">
            <a:avLst>
              <a:gd name="adj" fmla="val 11302"/>
            </a:avLst>
          </a:prstGeom>
          <a:solidFill>
            <a:srgbClr val="154371"/>
          </a:solidFill>
          <a:ln>
            <a:noFill/>
          </a:ln>
          <a:effectLst>
            <a:outerShdw blurRad="152400" dist="38100" dir="2700000" algn="t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72012EB3-7E4C-B1B4-2DA3-33F9A488DFD4}"/>
              </a:ext>
            </a:extLst>
          </p:cNvPr>
          <p:cNvSpPr/>
          <p:nvPr/>
        </p:nvSpPr>
        <p:spPr>
          <a:xfrm>
            <a:off x="7241107" y="2227995"/>
            <a:ext cx="4648486" cy="2007976"/>
          </a:xfrm>
          <a:prstGeom prst="roundRect">
            <a:avLst>
              <a:gd name="adj" fmla="val 11302"/>
            </a:avLst>
          </a:prstGeom>
          <a:solidFill>
            <a:schemeClr val="bg1"/>
          </a:solidFill>
          <a:ln>
            <a:noFill/>
          </a:ln>
          <a:effectLst>
            <a:outerShdw blurRad="152400" dist="38100" dir="2700000" algn="t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1380AC00-F8E0-117F-DFE1-2F48EFD069B5}"/>
              </a:ext>
            </a:extLst>
          </p:cNvPr>
          <p:cNvSpPr txBox="1"/>
          <p:nvPr/>
        </p:nvSpPr>
        <p:spPr>
          <a:xfrm>
            <a:off x="2282702" y="274264"/>
            <a:ext cx="4235544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11C3A"/>
                </a:solidFill>
                <a:latin typeface="Avenir LT Pro 65 Medium" panose="020B0603020203020204" pitchFamily="34" charset="0"/>
              </a:rPr>
              <a:t>Funil &amp; Oportunidades —  Portal B2B 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7B273A2-BD28-BF54-F1F9-DD24400F4EB4}"/>
              </a:ext>
            </a:extLst>
          </p:cNvPr>
          <p:cNvSpPr txBox="1"/>
          <p:nvPr/>
        </p:nvSpPr>
        <p:spPr>
          <a:xfrm>
            <a:off x="-6" y="951643"/>
            <a:ext cx="774626" cy="25391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pt-BR" sz="1050" b="1" dirty="0">
                <a:solidFill>
                  <a:srgbClr val="FC781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PÁGINAS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7EDF203-3501-D654-0FB0-5DAF758B18F4}"/>
              </a:ext>
            </a:extLst>
          </p:cNvPr>
          <p:cNvSpPr txBox="1"/>
          <p:nvPr/>
        </p:nvSpPr>
        <p:spPr>
          <a:xfrm>
            <a:off x="-13" y="3660599"/>
            <a:ext cx="990121" cy="25391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pt-BR" sz="1050" b="1" dirty="0">
                <a:solidFill>
                  <a:srgbClr val="FC781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FILTROS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2B461500-F19A-3BC6-E1A9-1AFD5DDAC5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462" y="212512"/>
            <a:ext cx="2149226" cy="512512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A15602CF-17ED-384E-E75F-68C92B292C96}"/>
              </a:ext>
            </a:extLst>
          </p:cNvPr>
          <p:cNvSpPr txBox="1"/>
          <p:nvPr/>
        </p:nvSpPr>
        <p:spPr>
          <a:xfrm>
            <a:off x="2301872" y="555675"/>
            <a:ext cx="48641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rgbClr val="2C5068"/>
                </a:solidFill>
              </a:rPr>
              <a:t>Clientes elegíveis, gaps de integração e principais oportunidades comerciais</a:t>
            </a:r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23C06EC7-B463-0EA7-A98D-AE9FB34EF8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57" y="185190"/>
            <a:ext cx="1743101" cy="636929"/>
          </a:xfrm>
          <a:prstGeom prst="rect">
            <a:avLst/>
          </a:prstGeom>
        </p:spPr>
      </p:pic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004715DA-F1F4-7D1D-E54E-454FC7A2C8AE}"/>
              </a:ext>
            </a:extLst>
          </p:cNvPr>
          <p:cNvCxnSpPr>
            <a:cxnSpLocks/>
          </p:cNvCxnSpPr>
          <p:nvPr/>
        </p:nvCxnSpPr>
        <p:spPr>
          <a:xfrm>
            <a:off x="101085" y="3596292"/>
            <a:ext cx="1686932" cy="0"/>
          </a:xfrm>
          <a:prstGeom prst="line">
            <a:avLst/>
          </a:prstGeom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m 5">
            <a:extLst>
              <a:ext uri="{FF2B5EF4-FFF2-40B4-BE49-F238E27FC236}">
                <a16:creationId xmlns:a16="http://schemas.microsoft.com/office/drawing/2014/main" id="{11C26C37-F5DD-3E63-9206-EEAA506CEA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87" y="1333817"/>
            <a:ext cx="233339" cy="233339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6D2021B-1896-BF9B-72D0-6A81FEA9D9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86" y="1800004"/>
            <a:ext cx="233339" cy="233339"/>
          </a:xfrm>
          <a:prstGeom prst="rect">
            <a:avLst/>
          </a:prstGeom>
        </p:spPr>
      </p:pic>
      <p:sp>
        <p:nvSpPr>
          <p:cNvPr id="51" name="Retângulo: Cantos Arredondados 50">
            <a:extLst>
              <a:ext uri="{FF2B5EF4-FFF2-40B4-BE49-F238E27FC236}">
                <a16:creationId xmlns:a16="http://schemas.microsoft.com/office/drawing/2014/main" id="{30A93125-AF3E-E815-7F22-6F89DCF91FE4}"/>
              </a:ext>
            </a:extLst>
          </p:cNvPr>
          <p:cNvSpPr/>
          <p:nvPr/>
        </p:nvSpPr>
        <p:spPr>
          <a:xfrm>
            <a:off x="2290225" y="907201"/>
            <a:ext cx="2173042" cy="1027616"/>
          </a:xfrm>
          <a:prstGeom prst="roundRect">
            <a:avLst>
              <a:gd name="adj" fmla="val 11302"/>
            </a:avLst>
          </a:prstGeom>
          <a:solidFill>
            <a:srgbClr val="154371"/>
          </a:solidFill>
          <a:ln>
            <a:noFill/>
          </a:ln>
          <a:effectLst>
            <a:outerShdw blurRad="152400" dist="38100" dir="2700000" algn="t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57B97037-D5A1-A97D-7AAE-F230CE69013E}"/>
              </a:ext>
            </a:extLst>
          </p:cNvPr>
          <p:cNvSpPr/>
          <p:nvPr/>
        </p:nvSpPr>
        <p:spPr>
          <a:xfrm>
            <a:off x="7349791" y="972000"/>
            <a:ext cx="612000" cy="575209"/>
          </a:xfrm>
          <a:prstGeom prst="ellipse">
            <a:avLst/>
          </a:prstGeom>
          <a:solidFill>
            <a:srgbClr val="123964"/>
          </a:solidFill>
          <a:ln>
            <a:solidFill>
              <a:srgbClr val="698B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6DE94C76-81E7-DA42-99A1-950F5F8B2A30}"/>
              </a:ext>
            </a:extLst>
          </p:cNvPr>
          <p:cNvSpPr/>
          <p:nvPr/>
        </p:nvSpPr>
        <p:spPr>
          <a:xfrm>
            <a:off x="9834337" y="972000"/>
            <a:ext cx="612000" cy="575209"/>
          </a:xfrm>
          <a:prstGeom prst="ellipse">
            <a:avLst/>
          </a:prstGeom>
          <a:solidFill>
            <a:srgbClr val="123964"/>
          </a:solidFill>
          <a:ln>
            <a:solidFill>
              <a:srgbClr val="698B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DF192022-FC06-6E0D-2654-E6573B082E0B}"/>
              </a:ext>
            </a:extLst>
          </p:cNvPr>
          <p:cNvSpPr txBox="1"/>
          <p:nvPr/>
        </p:nvSpPr>
        <p:spPr>
          <a:xfrm>
            <a:off x="8156903" y="2246453"/>
            <a:ext cx="281689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300" dirty="0">
                <a:solidFill>
                  <a:schemeClr val="bg1"/>
                </a:solidFill>
                <a:latin typeface="Avenir Next W1G Medium" panose="020B0603020202020204" pitchFamily="34" charset="0"/>
              </a:rPr>
              <a:t>Funil de adoção do Portal B2B</a:t>
            </a:r>
          </a:p>
        </p:txBody>
      </p:sp>
      <p:sp>
        <p:nvSpPr>
          <p:cNvPr id="44" name="Retângulo: Cantos Arredondados 43">
            <a:extLst>
              <a:ext uri="{FF2B5EF4-FFF2-40B4-BE49-F238E27FC236}">
                <a16:creationId xmlns:a16="http://schemas.microsoft.com/office/drawing/2014/main" id="{46601EBF-C101-3260-5129-B86402DB8EBD}"/>
              </a:ext>
            </a:extLst>
          </p:cNvPr>
          <p:cNvSpPr/>
          <p:nvPr/>
        </p:nvSpPr>
        <p:spPr>
          <a:xfrm>
            <a:off x="2290225" y="2237215"/>
            <a:ext cx="4648486" cy="4318367"/>
          </a:xfrm>
          <a:prstGeom prst="roundRect">
            <a:avLst>
              <a:gd name="adj" fmla="val 7121"/>
            </a:avLst>
          </a:prstGeom>
          <a:solidFill>
            <a:schemeClr val="bg1"/>
          </a:solidFill>
          <a:ln>
            <a:noFill/>
          </a:ln>
          <a:effectLst>
            <a:outerShdw blurRad="152400" dist="38100" dir="2700000" algn="t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2" name="Retângulo: Cantos Arredondados 51">
            <a:extLst>
              <a:ext uri="{FF2B5EF4-FFF2-40B4-BE49-F238E27FC236}">
                <a16:creationId xmlns:a16="http://schemas.microsoft.com/office/drawing/2014/main" id="{A5F8020D-7BA3-4273-A1A0-51825A362C71}"/>
              </a:ext>
            </a:extLst>
          </p:cNvPr>
          <p:cNvSpPr/>
          <p:nvPr/>
        </p:nvSpPr>
        <p:spPr>
          <a:xfrm>
            <a:off x="4765669" y="907201"/>
            <a:ext cx="2173042" cy="1027616"/>
          </a:xfrm>
          <a:prstGeom prst="roundRect">
            <a:avLst>
              <a:gd name="adj" fmla="val 11302"/>
            </a:avLst>
          </a:prstGeom>
          <a:solidFill>
            <a:srgbClr val="154371"/>
          </a:solidFill>
          <a:ln>
            <a:noFill/>
          </a:ln>
          <a:effectLst>
            <a:outerShdw blurRad="152400" dist="38100" dir="2700000" algn="t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" name="Barra de título do visual">
            <a:extLst>
              <a:ext uri="{FF2B5EF4-FFF2-40B4-BE49-F238E27FC236}">
                <a16:creationId xmlns:a16="http://schemas.microsoft.com/office/drawing/2014/main" id="{261411E7-4F82-87DA-732C-7A70B75EF315}"/>
              </a:ext>
            </a:extLst>
          </p:cNvPr>
          <p:cNvSpPr/>
          <p:nvPr/>
        </p:nvSpPr>
        <p:spPr>
          <a:xfrm>
            <a:off x="2290225" y="2237216"/>
            <a:ext cx="4648486" cy="241200"/>
          </a:xfrm>
          <a:prstGeom prst="round2SameRect">
            <a:avLst/>
          </a:prstGeom>
          <a:solidFill>
            <a:srgbClr val="01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BD77ACD9-39DB-EFE2-7735-6720BE51EF1C}"/>
              </a:ext>
            </a:extLst>
          </p:cNvPr>
          <p:cNvSpPr txBox="1"/>
          <p:nvPr/>
        </p:nvSpPr>
        <p:spPr>
          <a:xfrm>
            <a:off x="2718478" y="2227995"/>
            <a:ext cx="37919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  <a:latin typeface="Avenir Next W1G Medium" panose="020B0603020202020204" pitchFamily="34" charset="0"/>
              </a:rPr>
              <a:t>Carteiras com Maior Volume de Oportunidades</a:t>
            </a:r>
          </a:p>
        </p:txBody>
      </p:sp>
      <p:sp>
        <p:nvSpPr>
          <p:cNvPr id="47" name="Retângulo: Cantos Arredondados 46">
            <a:extLst>
              <a:ext uri="{FF2B5EF4-FFF2-40B4-BE49-F238E27FC236}">
                <a16:creationId xmlns:a16="http://schemas.microsoft.com/office/drawing/2014/main" id="{E13566F0-0673-BED5-4BA5-262FE42189A0}"/>
              </a:ext>
            </a:extLst>
          </p:cNvPr>
          <p:cNvSpPr/>
          <p:nvPr/>
        </p:nvSpPr>
        <p:spPr>
          <a:xfrm>
            <a:off x="7248629" y="4547607"/>
            <a:ext cx="4647600" cy="2007976"/>
          </a:xfrm>
          <a:prstGeom prst="roundRect">
            <a:avLst>
              <a:gd name="adj" fmla="val 13622"/>
            </a:avLst>
          </a:prstGeom>
          <a:solidFill>
            <a:schemeClr val="bg1"/>
          </a:solidFill>
          <a:ln>
            <a:noFill/>
          </a:ln>
          <a:effectLst>
            <a:outerShdw blurRad="152400" dist="38100" dir="2700000" algn="ctr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Barra de título do visual">
            <a:extLst>
              <a:ext uri="{FF2B5EF4-FFF2-40B4-BE49-F238E27FC236}">
                <a16:creationId xmlns:a16="http://schemas.microsoft.com/office/drawing/2014/main" id="{652CCE8C-F206-A7CC-5B22-92F127102553}"/>
              </a:ext>
            </a:extLst>
          </p:cNvPr>
          <p:cNvSpPr/>
          <p:nvPr/>
        </p:nvSpPr>
        <p:spPr>
          <a:xfrm>
            <a:off x="7252755" y="4546800"/>
            <a:ext cx="4648486" cy="241200"/>
          </a:xfrm>
          <a:prstGeom prst="round2SameRect">
            <a:avLst/>
          </a:prstGeom>
          <a:solidFill>
            <a:srgbClr val="01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Barra de título do visual">
            <a:extLst>
              <a:ext uri="{FF2B5EF4-FFF2-40B4-BE49-F238E27FC236}">
                <a16:creationId xmlns:a16="http://schemas.microsoft.com/office/drawing/2014/main" id="{DBA2C5C2-BEA6-0B77-1729-0BCD05F98B08}"/>
              </a:ext>
            </a:extLst>
          </p:cNvPr>
          <p:cNvSpPr/>
          <p:nvPr/>
        </p:nvSpPr>
        <p:spPr>
          <a:xfrm>
            <a:off x="7241107" y="2227995"/>
            <a:ext cx="4648486" cy="241200"/>
          </a:xfrm>
          <a:prstGeom prst="round2SameRect">
            <a:avLst/>
          </a:prstGeom>
          <a:solidFill>
            <a:srgbClr val="01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83790F1-FC74-CE2F-7187-FFE27C29D08C}"/>
              </a:ext>
            </a:extLst>
          </p:cNvPr>
          <p:cNvSpPr txBox="1"/>
          <p:nvPr/>
        </p:nvSpPr>
        <p:spPr>
          <a:xfrm>
            <a:off x="8295560" y="2211450"/>
            <a:ext cx="25395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  <a:latin typeface="Avenir Next W1G Medium" panose="020B0603020202020204" pitchFamily="34" charset="0"/>
              </a:rPr>
              <a:t>Oportunidades por Supervisor</a:t>
            </a:r>
          </a:p>
        </p:txBody>
      </p:sp>
      <p:sp>
        <p:nvSpPr>
          <p:cNvPr id="50" name="Elipse 49">
            <a:extLst>
              <a:ext uri="{FF2B5EF4-FFF2-40B4-BE49-F238E27FC236}">
                <a16:creationId xmlns:a16="http://schemas.microsoft.com/office/drawing/2014/main" id="{3D05C273-C14F-48F6-A6CA-EC580FFFAA12}"/>
              </a:ext>
            </a:extLst>
          </p:cNvPr>
          <p:cNvSpPr/>
          <p:nvPr/>
        </p:nvSpPr>
        <p:spPr>
          <a:xfrm>
            <a:off x="2392701" y="972000"/>
            <a:ext cx="612000" cy="575209"/>
          </a:xfrm>
          <a:prstGeom prst="ellipse">
            <a:avLst/>
          </a:prstGeom>
          <a:solidFill>
            <a:srgbClr val="123964"/>
          </a:solidFill>
          <a:ln>
            <a:solidFill>
              <a:srgbClr val="698B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5" name="Imagem 54">
            <a:extLst>
              <a:ext uri="{FF2B5EF4-FFF2-40B4-BE49-F238E27FC236}">
                <a16:creationId xmlns:a16="http://schemas.microsoft.com/office/drawing/2014/main" id="{7C22972B-2251-42E1-8FD0-96727F78080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1130" y="1040864"/>
            <a:ext cx="438633" cy="448546"/>
          </a:xfrm>
          <a:prstGeom prst="rect">
            <a:avLst/>
          </a:prstGeom>
        </p:spPr>
      </p:pic>
      <p:sp>
        <p:nvSpPr>
          <p:cNvPr id="54" name="CaixaDeTexto 53">
            <a:extLst>
              <a:ext uri="{FF2B5EF4-FFF2-40B4-BE49-F238E27FC236}">
                <a16:creationId xmlns:a16="http://schemas.microsoft.com/office/drawing/2014/main" id="{DFD716D6-F237-B92F-959B-4467B2E3A42A}"/>
              </a:ext>
            </a:extLst>
          </p:cNvPr>
          <p:cNvSpPr txBox="1"/>
          <p:nvPr/>
        </p:nvSpPr>
        <p:spPr>
          <a:xfrm>
            <a:off x="7755583" y="4540797"/>
            <a:ext cx="36195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  <a:latin typeface="Avenir Next W1G Medium" panose="020B0603020202020204" pitchFamily="34" charset="0"/>
              </a:rPr>
              <a:t>Cidades com Mais Oportunidades Mapeadas</a:t>
            </a:r>
          </a:p>
        </p:txBody>
      </p:sp>
      <p:sp>
        <p:nvSpPr>
          <p:cNvPr id="57" name="Elipse 56">
            <a:extLst>
              <a:ext uri="{FF2B5EF4-FFF2-40B4-BE49-F238E27FC236}">
                <a16:creationId xmlns:a16="http://schemas.microsoft.com/office/drawing/2014/main" id="{883720F3-642F-9A91-46B6-0CF4F3B9E662}"/>
              </a:ext>
            </a:extLst>
          </p:cNvPr>
          <p:cNvSpPr/>
          <p:nvPr/>
        </p:nvSpPr>
        <p:spPr>
          <a:xfrm>
            <a:off x="4877773" y="972000"/>
            <a:ext cx="612000" cy="575209"/>
          </a:xfrm>
          <a:prstGeom prst="ellipse">
            <a:avLst/>
          </a:prstGeom>
          <a:solidFill>
            <a:srgbClr val="123964"/>
          </a:solidFill>
          <a:ln>
            <a:solidFill>
              <a:srgbClr val="698B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3D5E186F-053F-44CE-AA40-CD88E87A469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0086" y="990333"/>
            <a:ext cx="507374" cy="507374"/>
          </a:xfrm>
          <a:prstGeom prst="rect">
            <a:avLst/>
          </a:prstGeom>
        </p:spPr>
      </p:pic>
      <p:pic>
        <p:nvPicPr>
          <p:cNvPr id="29" name="Imagem 28">
            <a:extLst>
              <a:ext uri="{FF2B5EF4-FFF2-40B4-BE49-F238E27FC236}">
                <a16:creationId xmlns:a16="http://schemas.microsoft.com/office/drawing/2014/main" id="{D71E7724-324D-439B-BD7D-1B443277B5F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5286" y="982605"/>
            <a:ext cx="461414" cy="461414"/>
          </a:xfrm>
          <a:prstGeom prst="rect">
            <a:avLst/>
          </a:prstGeom>
        </p:spPr>
      </p:pic>
      <p:pic>
        <p:nvPicPr>
          <p:cNvPr id="37" name="Imagem 36">
            <a:extLst>
              <a:ext uri="{FF2B5EF4-FFF2-40B4-BE49-F238E27FC236}">
                <a16:creationId xmlns:a16="http://schemas.microsoft.com/office/drawing/2014/main" id="{C8541AD4-DB10-4AA5-B73F-927E39381A8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3267" y="1048553"/>
            <a:ext cx="385225" cy="385225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C91F6ED7-3C31-26D0-CB45-088E31697EAA}"/>
              </a:ext>
            </a:extLst>
          </p:cNvPr>
          <p:cNvSpPr txBox="1"/>
          <p:nvPr/>
        </p:nvSpPr>
        <p:spPr>
          <a:xfrm>
            <a:off x="286268" y="1272707"/>
            <a:ext cx="1802670" cy="214116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SzPct val="120000"/>
            </a:pPr>
            <a:r>
              <a:rPr lang="pt-BR" sz="10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Visão Executiva</a:t>
            </a:r>
          </a:p>
          <a:p>
            <a:pPr marL="171450" indent="-171450">
              <a:lnSpc>
                <a:spcPct val="150000"/>
              </a:lnSpc>
              <a:buSzPct val="120000"/>
              <a:buFont typeface="Wingdings" panose="05000000000000000000" pitchFamily="2" charset="2"/>
              <a:buChar char="§"/>
            </a:pPr>
            <a:endParaRPr lang="pt-BR" sz="10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  <a:buSzPct val="120000"/>
            </a:pPr>
            <a:r>
              <a:rPr lang="pt-BR" sz="1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Funil &amp; Oportunidades</a:t>
            </a:r>
          </a:p>
          <a:p>
            <a:pPr marL="171450" indent="-171450">
              <a:lnSpc>
                <a:spcPct val="150000"/>
              </a:lnSpc>
              <a:buSzPct val="120000"/>
              <a:buFont typeface="Wingdings" panose="05000000000000000000" pitchFamily="2" charset="2"/>
              <a:buChar char="§"/>
            </a:pPr>
            <a:endParaRPr lang="pt-BR" sz="10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  <a:buSzPct val="120000"/>
            </a:pPr>
            <a:r>
              <a:rPr lang="pt-BR" sz="10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Resultado Comercial</a:t>
            </a:r>
          </a:p>
          <a:p>
            <a:pPr>
              <a:lnSpc>
                <a:spcPct val="150000"/>
              </a:lnSpc>
              <a:buSzPct val="120000"/>
            </a:pPr>
            <a:endParaRPr lang="pt-BR" sz="10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  <a:buSzPct val="120000"/>
            </a:pPr>
            <a:r>
              <a:rPr lang="pt-BR" sz="10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Evolução &amp; Comparativos</a:t>
            </a:r>
          </a:p>
          <a:p>
            <a:pPr marL="171450" indent="-171450">
              <a:lnSpc>
                <a:spcPct val="150000"/>
              </a:lnSpc>
              <a:buSzPct val="120000"/>
              <a:buFont typeface="Wingdings" panose="05000000000000000000" pitchFamily="2" charset="2"/>
              <a:buChar char="§"/>
            </a:pPr>
            <a:endParaRPr lang="pt-BR" sz="10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  <a:buSzPct val="120000"/>
            </a:pPr>
            <a:r>
              <a:rPr lang="pt-BR" sz="10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Plano de Ação</a:t>
            </a: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02C929A5-52A3-4A9D-3DCB-DB83E959CA7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81" y="2231974"/>
            <a:ext cx="245444" cy="245444"/>
          </a:xfrm>
          <a:prstGeom prst="rect">
            <a:avLst/>
          </a:prstGeom>
        </p:spPr>
      </p:pic>
      <p:pic>
        <p:nvPicPr>
          <p:cNvPr id="31" name="Imagem 30">
            <a:extLst>
              <a:ext uri="{FF2B5EF4-FFF2-40B4-BE49-F238E27FC236}">
                <a16:creationId xmlns:a16="http://schemas.microsoft.com/office/drawing/2014/main" id="{4061F9ED-9E1E-5E15-D191-E33F488065D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01" y="3134684"/>
            <a:ext cx="246932" cy="246932"/>
          </a:xfrm>
          <a:prstGeom prst="rect">
            <a:avLst/>
          </a:prstGeom>
        </p:spPr>
      </p:pic>
      <p:pic>
        <p:nvPicPr>
          <p:cNvPr id="33" name="Imagem 32">
            <a:extLst>
              <a:ext uri="{FF2B5EF4-FFF2-40B4-BE49-F238E27FC236}">
                <a16:creationId xmlns:a16="http://schemas.microsoft.com/office/drawing/2014/main" id="{BA1735F1-5DEF-C3DB-6281-829EE3740E1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81" y="2700244"/>
            <a:ext cx="245444" cy="245444"/>
          </a:xfrm>
          <a:prstGeom prst="rect">
            <a:avLst/>
          </a:prstGeom>
        </p:spPr>
      </p:pic>
      <p:grpSp>
        <p:nvGrpSpPr>
          <p:cNvPr id="8" name="Agrupar 7">
            <a:extLst>
              <a:ext uri="{FF2B5EF4-FFF2-40B4-BE49-F238E27FC236}">
                <a16:creationId xmlns:a16="http://schemas.microsoft.com/office/drawing/2014/main" id="{A878165F-1FE5-EFBE-6389-DA56041373A7}"/>
              </a:ext>
            </a:extLst>
          </p:cNvPr>
          <p:cNvGrpSpPr/>
          <p:nvPr/>
        </p:nvGrpSpPr>
        <p:grpSpPr>
          <a:xfrm>
            <a:off x="62775" y="6565651"/>
            <a:ext cx="1322105" cy="245197"/>
            <a:chOff x="-12" y="6565651"/>
            <a:chExt cx="1322105" cy="245197"/>
          </a:xfrm>
        </p:grpSpPr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F5A051F0-70CF-F450-2E7E-C6E9D8353A51}"/>
                </a:ext>
              </a:extLst>
            </p:cNvPr>
            <p:cNvSpPr txBox="1"/>
            <p:nvPr/>
          </p:nvSpPr>
          <p:spPr>
            <a:xfrm>
              <a:off x="-12" y="6577300"/>
              <a:ext cx="1030896" cy="215444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pt-BR" sz="8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LIMPAR FILTROS</a:t>
              </a:r>
            </a:p>
          </p:txBody>
        </p:sp>
        <p:sp>
          <p:nvSpPr>
            <p:cNvPr id="23" name="Retângulo: Cantos Arredondados 22">
              <a:extLst>
                <a:ext uri="{FF2B5EF4-FFF2-40B4-BE49-F238E27FC236}">
                  <a16:creationId xmlns:a16="http://schemas.microsoft.com/office/drawing/2014/main" id="{6EE1DB06-2780-4C09-B300-FE603CDB86FD}"/>
                </a:ext>
              </a:extLst>
            </p:cNvPr>
            <p:cNvSpPr/>
            <p:nvPr/>
          </p:nvSpPr>
          <p:spPr>
            <a:xfrm>
              <a:off x="30980" y="6565651"/>
              <a:ext cx="1291113" cy="245197"/>
            </a:xfrm>
            <a:prstGeom prst="round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8" name="Imagem 27">
              <a:extLst>
                <a:ext uri="{FF2B5EF4-FFF2-40B4-BE49-F238E27FC236}">
                  <a16:creationId xmlns:a16="http://schemas.microsoft.com/office/drawing/2014/main" id="{2B6D167F-7DFD-DD34-9912-9BB94CFEB15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7088" y="6583613"/>
              <a:ext cx="211077" cy="2110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291667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83CCD-3DD5-8B4A-1DDB-D65A4348D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50C4A20-2B77-1E8C-9C2D-68ADBB3A045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1C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B20EC7BF-2CF1-3B7E-C9E9-6C8D3A824BE5}"/>
              </a:ext>
            </a:extLst>
          </p:cNvPr>
          <p:cNvGrpSpPr/>
          <p:nvPr/>
        </p:nvGrpSpPr>
        <p:grpSpPr>
          <a:xfrm>
            <a:off x="26637" y="2210132"/>
            <a:ext cx="1895032" cy="292292"/>
            <a:chOff x="26637" y="1377194"/>
            <a:chExt cx="1895032" cy="292292"/>
          </a:xfrm>
        </p:grpSpPr>
        <p:sp>
          <p:nvSpPr>
            <p:cNvPr id="4" name="Retângulo: Cantos Arredondados 3">
              <a:extLst>
                <a:ext uri="{FF2B5EF4-FFF2-40B4-BE49-F238E27FC236}">
                  <a16:creationId xmlns:a16="http://schemas.microsoft.com/office/drawing/2014/main" id="{3210C993-5962-9C7D-87B5-DADE7B229F72}"/>
                </a:ext>
              </a:extLst>
            </p:cNvPr>
            <p:cNvSpPr/>
            <p:nvPr/>
          </p:nvSpPr>
          <p:spPr>
            <a:xfrm>
              <a:off x="26637" y="1379220"/>
              <a:ext cx="1895032" cy="290266"/>
            </a:xfrm>
            <a:prstGeom prst="roundRect">
              <a:avLst/>
            </a:prstGeom>
            <a:solidFill>
              <a:srgbClr val="154371"/>
            </a:solidFill>
            <a:ln>
              <a:noFill/>
            </a:ln>
            <a:effectLst>
              <a:outerShdw blurRad="152400" dist="63500" sx="93000" sy="93000" algn="ctr" rotWithShape="0">
                <a:schemeClr val="bg1">
                  <a:lumMod val="75000"/>
                  <a:alpha val="7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24" name="Retângulo: Cantos Arredondados 23">
              <a:extLst>
                <a:ext uri="{FF2B5EF4-FFF2-40B4-BE49-F238E27FC236}">
                  <a16:creationId xmlns:a16="http://schemas.microsoft.com/office/drawing/2014/main" id="{281A8A10-9B2A-B026-8DC3-F3BE959A9DE7}"/>
                </a:ext>
              </a:extLst>
            </p:cNvPr>
            <p:cNvSpPr/>
            <p:nvPr/>
          </p:nvSpPr>
          <p:spPr>
            <a:xfrm>
              <a:off x="26775" y="1377194"/>
              <a:ext cx="36000" cy="290266"/>
            </a:xfrm>
            <a:prstGeom prst="roundRect">
              <a:avLst/>
            </a:prstGeom>
            <a:solidFill>
              <a:srgbClr val="FC781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" name="Retângulo: Cantos Superiores Arredondados 2">
            <a:extLst>
              <a:ext uri="{FF2B5EF4-FFF2-40B4-BE49-F238E27FC236}">
                <a16:creationId xmlns:a16="http://schemas.microsoft.com/office/drawing/2014/main" id="{0DE12A93-9AC2-45BB-9EEF-92EC497C730C}"/>
              </a:ext>
            </a:extLst>
          </p:cNvPr>
          <p:cNvSpPr/>
          <p:nvPr/>
        </p:nvSpPr>
        <p:spPr>
          <a:xfrm rot="16200000">
            <a:off x="3660917" y="-1673090"/>
            <a:ext cx="6857998" cy="10204179"/>
          </a:xfrm>
          <a:prstGeom prst="round2SameRect">
            <a:avLst>
              <a:gd name="adj1" fmla="val 5460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5BA4724E-08D3-A6E1-8098-461B80FE407D}"/>
              </a:ext>
            </a:extLst>
          </p:cNvPr>
          <p:cNvSpPr/>
          <p:nvPr/>
        </p:nvSpPr>
        <p:spPr>
          <a:xfrm>
            <a:off x="7241113" y="907201"/>
            <a:ext cx="2173042" cy="1027616"/>
          </a:xfrm>
          <a:prstGeom prst="roundRect">
            <a:avLst>
              <a:gd name="adj" fmla="val 11302"/>
            </a:avLst>
          </a:prstGeom>
          <a:solidFill>
            <a:srgbClr val="154371"/>
          </a:solidFill>
          <a:ln>
            <a:noFill/>
          </a:ln>
          <a:effectLst>
            <a:outerShdw blurRad="152400" dist="38100" dir="2700000" algn="t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BA7C96D4-66F6-A06B-DBEC-27402A324921}"/>
              </a:ext>
            </a:extLst>
          </p:cNvPr>
          <p:cNvSpPr/>
          <p:nvPr/>
        </p:nvSpPr>
        <p:spPr>
          <a:xfrm>
            <a:off x="9716558" y="907201"/>
            <a:ext cx="2173042" cy="1027616"/>
          </a:xfrm>
          <a:prstGeom prst="roundRect">
            <a:avLst>
              <a:gd name="adj" fmla="val 11302"/>
            </a:avLst>
          </a:prstGeom>
          <a:solidFill>
            <a:srgbClr val="154371"/>
          </a:solidFill>
          <a:ln>
            <a:noFill/>
          </a:ln>
          <a:effectLst>
            <a:outerShdw blurRad="152400" dist="38100" dir="2700000" algn="t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72012EB3-7E4C-B1B4-2DA3-33F9A488DFD4}"/>
              </a:ext>
            </a:extLst>
          </p:cNvPr>
          <p:cNvSpPr/>
          <p:nvPr/>
        </p:nvSpPr>
        <p:spPr>
          <a:xfrm>
            <a:off x="7241107" y="2227995"/>
            <a:ext cx="4648486" cy="2007976"/>
          </a:xfrm>
          <a:prstGeom prst="roundRect">
            <a:avLst>
              <a:gd name="adj" fmla="val 11302"/>
            </a:avLst>
          </a:prstGeom>
          <a:solidFill>
            <a:schemeClr val="bg1"/>
          </a:solidFill>
          <a:ln>
            <a:noFill/>
          </a:ln>
          <a:effectLst>
            <a:outerShdw blurRad="152400" dist="38100" dir="2700000" algn="t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1380AC00-F8E0-117F-DFE1-2F48EFD069B5}"/>
              </a:ext>
            </a:extLst>
          </p:cNvPr>
          <p:cNvSpPr txBox="1"/>
          <p:nvPr/>
        </p:nvSpPr>
        <p:spPr>
          <a:xfrm>
            <a:off x="2282702" y="274264"/>
            <a:ext cx="4235544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11C3A"/>
                </a:solidFill>
                <a:latin typeface="Avenir LT Pro 65 Medium" panose="020B0603020203020204" pitchFamily="34" charset="0"/>
              </a:rPr>
              <a:t>Resultado Comercial —  Portal B2B 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7B273A2-BD28-BF54-F1F9-DD24400F4EB4}"/>
              </a:ext>
            </a:extLst>
          </p:cNvPr>
          <p:cNvSpPr txBox="1"/>
          <p:nvPr/>
        </p:nvSpPr>
        <p:spPr>
          <a:xfrm>
            <a:off x="-6" y="951643"/>
            <a:ext cx="774626" cy="25391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pt-BR" sz="1050" b="1" dirty="0">
                <a:solidFill>
                  <a:srgbClr val="FC781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PÁGINAS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7EDF203-3501-D654-0FB0-5DAF758B18F4}"/>
              </a:ext>
            </a:extLst>
          </p:cNvPr>
          <p:cNvSpPr txBox="1"/>
          <p:nvPr/>
        </p:nvSpPr>
        <p:spPr>
          <a:xfrm>
            <a:off x="-13" y="3660599"/>
            <a:ext cx="990121" cy="25391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pt-BR" sz="1050" b="1" dirty="0">
                <a:solidFill>
                  <a:srgbClr val="FC781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FILTROS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2B461500-F19A-3BC6-E1A9-1AFD5DDAC5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462" y="212512"/>
            <a:ext cx="2149226" cy="512512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A15602CF-17ED-384E-E75F-68C92B292C96}"/>
              </a:ext>
            </a:extLst>
          </p:cNvPr>
          <p:cNvSpPr txBox="1"/>
          <p:nvPr/>
        </p:nvSpPr>
        <p:spPr>
          <a:xfrm>
            <a:off x="2301872" y="555675"/>
            <a:ext cx="48641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rgbClr val="2C5068"/>
                </a:solidFill>
              </a:rPr>
              <a:t>Desempenho de vendas, participação do canal e perfil dos compradores</a:t>
            </a:r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23C06EC7-B463-0EA7-A98D-AE9FB34EF8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57" y="185190"/>
            <a:ext cx="1743101" cy="636929"/>
          </a:xfrm>
          <a:prstGeom prst="rect">
            <a:avLst/>
          </a:prstGeom>
        </p:spPr>
      </p:pic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004715DA-F1F4-7D1D-E54E-454FC7A2C8AE}"/>
              </a:ext>
            </a:extLst>
          </p:cNvPr>
          <p:cNvCxnSpPr>
            <a:cxnSpLocks/>
          </p:cNvCxnSpPr>
          <p:nvPr/>
        </p:nvCxnSpPr>
        <p:spPr>
          <a:xfrm>
            <a:off x="101085" y="3596292"/>
            <a:ext cx="1686932" cy="0"/>
          </a:xfrm>
          <a:prstGeom prst="line">
            <a:avLst/>
          </a:prstGeom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m 5">
            <a:extLst>
              <a:ext uri="{FF2B5EF4-FFF2-40B4-BE49-F238E27FC236}">
                <a16:creationId xmlns:a16="http://schemas.microsoft.com/office/drawing/2014/main" id="{11C26C37-F5DD-3E63-9206-EEAA506CEA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87" y="1333817"/>
            <a:ext cx="233339" cy="233339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29108FFA-394D-1DDB-4C25-89E96E49C93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81" y="2231974"/>
            <a:ext cx="245444" cy="245444"/>
          </a:xfrm>
          <a:prstGeom prst="rect">
            <a:avLst/>
          </a:prstGeom>
        </p:spPr>
      </p:pic>
      <p:sp>
        <p:nvSpPr>
          <p:cNvPr id="51" name="Retângulo: Cantos Arredondados 50">
            <a:extLst>
              <a:ext uri="{FF2B5EF4-FFF2-40B4-BE49-F238E27FC236}">
                <a16:creationId xmlns:a16="http://schemas.microsoft.com/office/drawing/2014/main" id="{30A93125-AF3E-E815-7F22-6F89DCF91FE4}"/>
              </a:ext>
            </a:extLst>
          </p:cNvPr>
          <p:cNvSpPr/>
          <p:nvPr/>
        </p:nvSpPr>
        <p:spPr>
          <a:xfrm>
            <a:off x="2290225" y="907201"/>
            <a:ext cx="2173042" cy="1027616"/>
          </a:xfrm>
          <a:prstGeom prst="roundRect">
            <a:avLst>
              <a:gd name="adj" fmla="val 11302"/>
            </a:avLst>
          </a:prstGeom>
          <a:solidFill>
            <a:srgbClr val="154371"/>
          </a:solidFill>
          <a:ln>
            <a:noFill/>
          </a:ln>
          <a:effectLst>
            <a:outerShdw blurRad="152400" dist="38100" dir="2700000" algn="t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57B97037-D5A1-A97D-7AAE-F230CE69013E}"/>
              </a:ext>
            </a:extLst>
          </p:cNvPr>
          <p:cNvSpPr/>
          <p:nvPr/>
        </p:nvSpPr>
        <p:spPr>
          <a:xfrm>
            <a:off x="7349791" y="972000"/>
            <a:ext cx="612000" cy="575209"/>
          </a:xfrm>
          <a:prstGeom prst="ellipse">
            <a:avLst/>
          </a:prstGeom>
          <a:solidFill>
            <a:srgbClr val="123964"/>
          </a:solidFill>
          <a:ln>
            <a:solidFill>
              <a:srgbClr val="698B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6DE94C76-81E7-DA42-99A1-950F5F8B2A30}"/>
              </a:ext>
            </a:extLst>
          </p:cNvPr>
          <p:cNvSpPr/>
          <p:nvPr/>
        </p:nvSpPr>
        <p:spPr>
          <a:xfrm>
            <a:off x="9834337" y="972000"/>
            <a:ext cx="612000" cy="575209"/>
          </a:xfrm>
          <a:prstGeom prst="ellipse">
            <a:avLst/>
          </a:prstGeom>
          <a:solidFill>
            <a:srgbClr val="123964"/>
          </a:solidFill>
          <a:ln>
            <a:solidFill>
              <a:srgbClr val="698B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DF192022-FC06-6E0D-2654-E6573B082E0B}"/>
              </a:ext>
            </a:extLst>
          </p:cNvPr>
          <p:cNvSpPr txBox="1"/>
          <p:nvPr/>
        </p:nvSpPr>
        <p:spPr>
          <a:xfrm>
            <a:off x="8156903" y="2246453"/>
            <a:ext cx="281689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300" dirty="0">
                <a:solidFill>
                  <a:schemeClr val="bg1"/>
                </a:solidFill>
                <a:latin typeface="Avenir Next W1G Medium" panose="020B0603020202020204" pitchFamily="34" charset="0"/>
              </a:rPr>
              <a:t>Funil de adoção do Portal B2B</a:t>
            </a:r>
          </a:p>
        </p:txBody>
      </p:sp>
      <p:sp>
        <p:nvSpPr>
          <p:cNvPr id="52" name="Retângulo: Cantos Arredondados 51">
            <a:extLst>
              <a:ext uri="{FF2B5EF4-FFF2-40B4-BE49-F238E27FC236}">
                <a16:creationId xmlns:a16="http://schemas.microsoft.com/office/drawing/2014/main" id="{A5F8020D-7BA3-4273-A1A0-51825A362C71}"/>
              </a:ext>
            </a:extLst>
          </p:cNvPr>
          <p:cNvSpPr/>
          <p:nvPr/>
        </p:nvSpPr>
        <p:spPr>
          <a:xfrm>
            <a:off x="4765669" y="907201"/>
            <a:ext cx="2173042" cy="1027616"/>
          </a:xfrm>
          <a:prstGeom prst="roundRect">
            <a:avLst>
              <a:gd name="adj" fmla="val 11302"/>
            </a:avLst>
          </a:prstGeom>
          <a:solidFill>
            <a:srgbClr val="154371"/>
          </a:solidFill>
          <a:ln>
            <a:noFill/>
          </a:ln>
          <a:effectLst>
            <a:outerShdw blurRad="152400" dist="38100" dir="2700000" algn="t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7" name="Retângulo: Cantos Arredondados 46">
            <a:extLst>
              <a:ext uri="{FF2B5EF4-FFF2-40B4-BE49-F238E27FC236}">
                <a16:creationId xmlns:a16="http://schemas.microsoft.com/office/drawing/2014/main" id="{E13566F0-0673-BED5-4BA5-262FE42189A0}"/>
              </a:ext>
            </a:extLst>
          </p:cNvPr>
          <p:cNvSpPr/>
          <p:nvPr/>
        </p:nvSpPr>
        <p:spPr>
          <a:xfrm>
            <a:off x="7248629" y="4547607"/>
            <a:ext cx="4647600" cy="2007976"/>
          </a:xfrm>
          <a:prstGeom prst="roundRect">
            <a:avLst>
              <a:gd name="adj" fmla="val 14202"/>
            </a:avLst>
          </a:prstGeom>
          <a:solidFill>
            <a:schemeClr val="bg1"/>
          </a:solidFill>
          <a:ln>
            <a:noFill/>
          </a:ln>
          <a:effectLst>
            <a:outerShdw blurRad="152400" dist="38100" dir="2700000" algn="ctr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Barra de título do visual">
            <a:extLst>
              <a:ext uri="{FF2B5EF4-FFF2-40B4-BE49-F238E27FC236}">
                <a16:creationId xmlns:a16="http://schemas.microsoft.com/office/drawing/2014/main" id="{652CCE8C-F206-A7CC-5B22-92F127102553}"/>
              </a:ext>
            </a:extLst>
          </p:cNvPr>
          <p:cNvSpPr/>
          <p:nvPr/>
        </p:nvSpPr>
        <p:spPr>
          <a:xfrm>
            <a:off x="7252755" y="4546800"/>
            <a:ext cx="4648486" cy="241200"/>
          </a:xfrm>
          <a:prstGeom prst="round2SameRect">
            <a:avLst/>
          </a:prstGeom>
          <a:solidFill>
            <a:srgbClr val="01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Barra de título do visual">
            <a:extLst>
              <a:ext uri="{FF2B5EF4-FFF2-40B4-BE49-F238E27FC236}">
                <a16:creationId xmlns:a16="http://schemas.microsoft.com/office/drawing/2014/main" id="{DBA2C5C2-BEA6-0B77-1729-0BCD05F98B08}"/>
              </a:ext>
            </a:extLst>
          </p:cNvPr>
          <p:cNvSpPr/>
          <p:nvPr/>
        </p:nvSpPr>
        <p:spPr>
          <a:xfrm>
            <a:off x="7241107" y="2227995"/>
            <a:ext cx="4648486" cy="241200"/>
          </a:xfrm>
          <a:prstGeom prst="round2SameRect">
            <a:avLst/>
          </a:prstGeom>
          <a:solidFill>
            <a:srgbClr val="01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83790F1-FC74-CE2F-7187-FFE27C29D08C}"/>
              </a:ext>
            </a:extLst>
          </p:cNvPr>
          <p:cNvSpPr txBox="1"/>
          <p:nvPr/>
        </p:nvSpPr>
        <p:spPr>
          <a:xfrm>
            <a:off x="8109039" y="2223399"/>
            <a:ext cx="29126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  <a:latin typeface="Avenir Next W1G Medium" panose="020B0603020202020204" pitchFamily="34" charset="0"/>
              </a:rPr>
              <a:t>Clientes com Maior Venda no Portal</a:t>
            </a:r>
          </a:p>
        </p:txBody>
      </p:sp>
      <p:sp>
        <p:nvSpPr>
          <p:cNvPr id="50" name="Elipse 49">
            <a:extLst>
              <a:ext uri="{FF2B5EF4-FFF2-40B4-BE49-F238E27FC236}">
                <a16:creationId xmlns:a16="http://schemas.microsoft.com/office/drawing/2014/main" id="{3D05C273-C14F-48F6-A6CA-EC580FFFAA12}"/>
              </a:ext>
            </a:extLst>
          </p:cNvPr>
          <p:cNvSpPr/>
          <p:nvPr/>
        </p:nvSpPr>
        <p:spPr>
          <a:xfrm>
            <a:off x="2392701" y="972000"/>
            <a:ext cx="612000" cy="575209"/>
          </a:xfrm>
          <a:prstGeom prst="ellipse">
            <a:avLst/>
          </a:prstGeom>
          <a:solidFill>
            <a:srgbClr val="123964"/>
          </a:solidFill>
          <a:ln>
            <a:solidFill>
              <a:srgbClr val="698B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DFD716D6-F237-B92F-959B-4467B2E3A42A}"/>
              </a:ext>
            </a:extLst>
          </p:cNvPr>
          <p:cNvSpPr txBox="1"/>
          <p:nvPr/>
        </p:nvSpPr>
        <p:spPr>
          <a:xfrm>
            <a:off x="8365892" y="4530702"/>
            <a:ext cx="23989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  <a:latin typeface="Avenir Next W1G Medium" panose="020B0603020202020204" pitchFamily="34" charset="0"/>
              </a:rPr>
              <a:t>Compradores Mensais Portal</a:t>
            </a:r>
          </a:p>
        </p:txBody>
      </p:sp>
      <p:sp>
        <p:nvSpPr>
          <p:cNvPr id="57" name="Elipse 56">
            <a:extLst>
              <a:ext uri="{FF2B5EF4-FFF2-40B4-BE49-F238E27FC236}">
                <a16:creationId xmlns:a16="http://schemas.microsoft.com/office/drawing/2014/main" id="{883720F3-642F-9A91-46B6-0CF4F3B9E662}"/>
              </a:ext>
            </a:extLst>
          </p:cNvPr>
          <p:cNvSpPr/>
          <p:nvPr/>
        </p:nvSpPr>
        <p:spPr>
          <a:xfrm>
            <a:off x="4877773" y="972000"/>
            <a:ext cx="612000" cy="575209"/>
          </a:xfrm>
          <a:prstGeom prst="ellipse">
            <a:avLst/>
          </a:prstGeom>
          <a:solidFill>
            <a:srgbClr val="123964"/>
          </a:solidFill>
          <a:ln>
            <a:solidFill>
              <a:srgbClr val="698B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D4457A9C-A1AA-1310-E4D5-E8C69BEDBC3E}"/>
              </a:ext>
            </a:extLst>
          </p:cNvPr>
          <p:cNvSpPr/>
          <p:nvPr/>
        </p:nvSpPr>
        <p:spPr>
          <a:xfrm>
            <a:off x="2290225" y="4546800"/>
            <a:ext cx="4648486" cy="2007976"/>
          </a:xfrm>
          <a:prstGeom prst="roundRect">
            <a:avLst>
              <a:gd name="adj" fmla="val 11302"/>
            </a:avLst>
          </a:prstGeom>
          <a:solidFill>
            <a:schemeClr val="bg1"/>
          </a:solidFill>
          <a:ln>
            <a:noFill/>
          </a:ln>
          <a:effectLst>
            <a:outerShdw blurRad="152400" dist="38100" dir="2700000" algn="t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Barra de título do visual">
            <a:extLst>
              <a:ext uri="{FF2B5EF4-FFF2-40B4-BE49-F238E27FC236}">
                <a16:creationId xmlns:a16="http://schemas.microsoft.com/office/drawing/2014/main" id="{76DA289B-5C90-DCF1-C009-BE60752875D9}"/>
              </a:ext>
            </a:extLst>
          </p:cNvPr>
          <p:cNvSpPr/>
          <p:nvPr/>
        </p:nvSpPr>
        <p:spPr>
          <a:xfrm>
            <a:off x="2290225" y="4546800"/>
            <a:ext cx="4648486" cy="241200"/>
          </a:xfrm>
          <a:prstGeom prst="round2SameRect">
            <a:avLst/>
          </a:prstGeom>
          <a:solidFill>
            <a:srgbClr val="01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110EF8DF-E33A-64EB-A496-09FD52C76F74}"/>
              </a:ext>
            </a:extLst>
          </p:cNvPr>
          <p:cNvSpPr txBox="1"/>
          <p:nvPr/>
        </p:nvSpPr>
        <p:spPr>
          <a:xfrm>
            <a:off x="2797424" y="4530702"/>
            <a:ext cx="3634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  <a:latin typeface="Avenir Next W1G Medium" panose="020B0603020202020204" pitchFamily="34" charset="0"/>
              </a:rPr>
              <a:t>Participação Mensal do Portal na Venda Total</a:t>
            </a:r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0A918B94-090A-EC66-8AEE-67FE47A41DDA}"/>
              </a:ext>
            </a:extLst>
          </p:cNvPr>
          <p:cNvSpPr/>
          <p:nvPr/>
        </p:nvSpPr>
        <p:spPr>
          <a:xfrm>
            <a:off x="2290225" y="2237216"/>
            <a:ext cx="4648486" cy="2007976"/>
          </a:xfrm>
          <a:prstGeom prst="roundRect">
            <a:avLst>
              <a:gd name="adj" fmla="val 11302"/>
            </a:avLst>
          </a:prstGeom>
          <a:solidFill>
            <a:schemeClr val="bg1"/>
          </a:solidFill>
          <a:ln>
            <a:noFill/>
          </a:ln>
          <a:effectLst>
            <a:outerShdw blurRad="152400" dist="38100" dir="2700000" algn="t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Barra de título do visual">
            <a:extLst>
              <a:ext uri="{FF2B5EF4-FFF2-40B4-BE49-F238E27FC236}">
                <a16:creationId xmlns:a16="http://schemas.microsoft.com/office/drawing/2014/main" id="{F6B61511-AABC-D1E1-CA44-D86CE4BB1215}"/>
              </a:ext>
            </a:extLst>
          </p:cNvPr>
          <p:cNvSpPr/>
          <p:nvPr/>
        </p:nvSpPr>
        <p:spPr>
          <a:xfrm>
            <a:off x="2290225" y="2237216"/>
            <a:ext cx="4648486" cy="240202"/>
          </a:xfrm>
          <a:prstGeom prst="round2SameRect">
            <a:avLst/>
          </a:prstGeom>
          <a:solidFill>
            <a:srgbClr val="01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9FC662DB-92E0-8681-0C76-8BA45E130EB4}"/>
              </a:ext>
            </a:extLst>
          </p:cNvPr>
          <p:cNvSpPr txBox="1"/>
          <p:nvPr/>
        </p:nvSpPr>
        <p:spPr>
          <a:xfrm>
            <a:off x="3524473" y="2225482"/>
            <a:ext cx="21799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  <a:latin typeface="Avenir Next W1G Medium" panose="020B0603020202020204" pitchFamily="34" charset="0"/>
              </a:rPr>
              <a:t>Vendas do Portal por RCA</a:t>
            </a:r>
          </a:p>
        </p:txBody>
      </p:sp>
      <p:pic>
        <p:nvPicPr>
          <p:cNvPr id="43" name="Imagem 42">
            <a:extLst>
              <a:ext uri="{FF2B5EF4-FFF2-40B4-BE49-F238E27FC236}">
                <a16:creationId xmlns:a16="http://schemas.microsoft.com/office/drawing/2014/main" id="{6561B4BA-B16F-0C00-A3C2-108C8721612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3135" y="1052886"/>
            <a:ext cx="391133" cy="391133"/>
          </a:xfrm>
          <a:prstGeom prst="rect">
            <a:avLst/>
          </a:prstGeom>
        </p:spPr>
      </p:pic>
      <p:pic>
        <p:nvPicPr>
          <p:cNvPr id="58" name="Imagem 57">
            <a:extLst>
              <a:ext uri="{FF2B5EF4-FFF2-40B4-BE49-F238E27FC236}">
                <a16:creationId xmlns:a16="http://schemas.microsoft.com/office/drawing/2014/main" id="{952B8AED-6109-54DB-FA4C-7C6AD4EC855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9883" y="1011344"/>
            <a:ext cx="487781" cy="487781"/>
          </a:xfrm>
          <a:prstGeom prst="rect">
            <a:avLst/>
          </a:prstGeom>
        </p:spPr>
      </p:pic>
      <p:pic>
        <p:nvPicPr>
          <p:cNvPr id="60" name="Imagem 59">
            <a:extLst>
              <a:ext uri="{FF2B5EF4-FFF2-40B4-BE49-F238E27FC236}">
                <a16:creationId xmlns:a16="http://schemas.microsoft.com/office/drawing/2014/main" id="{322DA6C6-84AD-39F5-6D4C-F83D3C6E0CE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3275" y="1048167"/>
            <a:ext cx="425032" cy="425032"/>
          </a:xfrm>
          <a:prstGeom prst="rect">
            <a:avLst/>
          </a:prstGeom>
        </p:spPr>
      </p:pic>
      <p:pic>
        <p:nvPicPr>
          <p:cNvPr id="62" name="Imagem 61">
            <a:extLst>
              <a:ext uri="{FF2B5EF4-FFF2-40B4-BE49-F238E27FC236}">
                <a16:creationId xmlns:a16="http://schemas.microsoft.com/office/drawing/2014/main" id="{A7D98C80-3C43-C6CD-5105-0B9239F14CF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7626" y="1029226"/>
            <a:ext cx="463663" cy="463663"/>
          </a:xfrm>
          <a:prstGeom prst="rect">
            <a:avLst/>
          </a:prstGeom>
        </p:spPr>
      </p:pic>
      <p:pic>
        <p:nvPicPr>
          <p:cNvPr id="64" name="Imagem 63">
            <a:extLst>
              <a:ext uri="{FF2B5EF4-FFF2-40B4-BE49-F238E27FC236}">
                <a16:creationId xmlns:a16="http://schemas.microsoft.com/office/drawing/2014/main" id="{CB943FC0-B757-A7EA-AE1E-BE65CDBCAE6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01" y="3134684"/>
            <a:ext cx="246932" cy="246932"/>
          </a:xfrm>
          <a:prstGeom prst="rect">
            <a:avLst/>
          </a:prstGeom>
        </p:spPr>
      </p:pic>
      <p:sp>
        <p:nvSpPr>
          <p:cNvPr id="65" name="CaixaDeTexto 64">
            <a:extLst>
              <a:ext uri="{FF2B5EF4-FFF2-40B4-BE49-F238E27FC236}">
                <a16:creationId xmlns:a16="http://schemas.microsoft.com/office/drawing/2014/main" id="{0E19C176-5ABE-5635-E495-751FDCF34BD6}"/>
              </a:ext>
            </a:extLst>
          </p:cNvPr>
          <p:cNvSpPr txBox="1"/>
          <p:nvPr/>
        </p:nvSpPr>
        <p:spPr>
          <a:xfrm>
            <a:off x="286268" y="1272707"/>
            <a:ext cx="1802670" cy="214116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SzPct val="120000"/>
            </a:pPr>
            <a:r>
              <a:rPr lang="pt-BR" sz="10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Visão Executiva</a:t>
            </a:r>
          </a:p>
          <a:p>
            <a:pPr marL="171450" indent="-171450">
              <a:lnSpc>
                <a:spcPct val="150000"/>
              </a:lnSpc>
              <a:buSzPct val="120000"/>
              <a:buFont typeface="Wingdings" panose="05000000000000000000" pitchFamily="2" charset="2"/>
              <a:buChar char="§"/>
            </a:pPr>
            <a:endParaRPr lang="pt-BR" sz="10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  <a:buSzPct val="120000"/>
            </a:pPr>
            <a:r>
              <a:rPr lang="pt-BR" sz="10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Funil &amp; Oportunidades</a:t>
            </a:r>
          </a:p>
          <a:p>
            <a:pPr marL="171450" indent="-171450">
              <a:lnSpc>
                <a:spcPct val="150000"/>
              </a:lnSpc>
              <a:buSzPct val="120000"/>
              <a:buFont typeface="Wingdings" panose="05000000000000000000" pitchFamily="2" charset="2"/>
              <a:buChar char="§"/>
            </a:pPr>
            <a:endParaRPr lang="pt-BR" sz="10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  <a:buSzPct val="120000"/>
            </a:pPr>
            <a:r>
              <a:rPr lang="pt-BR" sz="1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Resultado Comercial</a:t>
            </a:r>
          </a:p>
          <a:p>
            <a:pPr>
              <a:lnSpc>
                <a:spcPct val="150000"/>
              </a:lnSpc>
              <a:buSzPct val="120000"/>
            </a:pPr>
            <a:endParaRPr lang="pt-BR" sz="10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  <a:buSzPct val="120000"/>
            </a:pPr>
            <a:r>
              <a:rPr lang="pt-BR" sz="10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Evolução &amp; Comparativos</a:t>
            </a:r>
          </a:p>
          <a:p>
            <a:pPr marL="171450" indent="-171450">
              <a:lnSpc>
                <a:spcPct val="150000"/>
              </a:lnSpc>
              <a:buSzPct val="120000"/>
              <a:buFont typeface="Wingdings" panose="05000000000000000000" pitchFamily="2" charset="2"/>
              <a:buChar char="§"/>
            </a:pPr>
            <a:endParaRPr lang="pt-BR" sz="10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  <a:buSzPct val="120000"/>
            </a:pPr>
            <a:r>
              <a:rPr lang="pt-BR" sz="10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Plano de Ação</a:t>
            </a:r>
          </a:p>
        </p:txBody>
      </p:sp>
      <p:pic>
        <p:nvPicPr>
          <p:cNvPr id="66" name="Imagem 65">
            <a:extLst>
              <a:ext uri="{FF2B5EF4-FFF2-40B4-BE49-F238E27FC236}">
                <a16:creationId xmlns:a16="http://schemas.microsoft.com/office/drawing/2014/main" id="{F9E669FB-E5A3-5EB2-EB4D-45DECE7023D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86" y="1800004"/>
            <a:ext cx="233339" cy="233339"/>
          </a:xfrm>
          <a:prstGeom prst="rect">
            <a:avLst/>
          </a:prstGeom>
        </p:spPr>
      </p:pic>
      <p:pic>
        <p:nvPicPr>
          <p:cNvPr id="67" name="Imagem 66">
            <a:extLst>
              <a:ext uri="{FF2B5EF4-FFF2-40B4-BE49-F238E27FC236}">
                <a16:creationId xmlns:a16="http://schemas.microsoft.com/office/drawing/2014/main" id="{CCE89635-1C7E-4149-0229-E5A6855344A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81" y="2700244"/>
            <a:ext cx="245444" cy="245444"/>
          </a:xfrm>
          <a:prstGeom prst="rect">
            <a:avLst/>
          </a:prstGeom>
        </p:spPr>
      </p:pic>
      <p:grpSp>
        <p:nvGrpSpPr>
          <p:cNvPr id="8" name="Agrupar 7">
            <a:extLst>
              <a:ext uri="{FF2B5EF4-FFF2-40B4-BE49-F238E27FC236}">
                <a16:creationId xmlns:a16="http://schemas.microsoft.com/office/drawing/2014/main" id="{248FBE26-6479-5637-6BA7-75E61338BBE9}"/>
              </a:ext>
            </a:extLst>
          </p:cNvPr>
          <p:cNvGrpSpPr/>
          <p:nvPr/>
        </p:nvGrpSpPr>
        <p:grpSpPr>
          <a:xfrm>
            <a:off x="62775" y="6565651"/>
            <a:ext cx="1322105" cy="245197"/>
            <a:chOff x="-12" y="6565651"/>
            <a:chExt cx="1322105" cy="245197"/>
          </a:xfrm>
        </p:grpSpPr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B3AF4C5D-C6D9-146D-7719-080A18327F83}"/>
                </a:ext>
              </a:extLst>
            </p:cNvPr>
            <p:cNvSpPr txBox="1"/>
            <p:nvPr/>
          </p:nvSpPr>
          <p:spPr>
            <a:xfrm>
              <a:off x="-12" y="6577300"/>
              <a:ext cx="1030896" cy="215444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pt-BR" sz="8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LIMPAR FILTROS</a:t>
              </a:r>
            </a:p>
          </p:txBody>
        </p:sp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1B231DDB-6FF9-853C-A341-EED5157A56F9}"/>
                </a:ext>
              </a:extLst>
            </p:cNvPr>
            <p:cNvSpPr/>
            <p:nvPr/>
          </p:nvSpPr>
          <p:spPr>
            <a:xfrm>
              <a:off x="30980" y="6565651"/>
              <a:ext cx="1291113" cy="245197"/>
            </a:xfrm>
            <a:prstGeom prst="round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8" name="Imagem 27">
              <a:extLst>
                <a:ext uri="{FF2B5EF4-FFF2-40B4-BE49-F238E27FC236}">
                  <a16:creationId xmlns:a16="http://schemas.microsoft.com/office/drawing/2014/main" id="{5632E9DD-3EC0-7D1E-FE80-2FAFCCD6329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7088" y="6583613"/>
              <a:ext cx="211077" cy="2110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007287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1BEAD-6100-4860-8E60-266703672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8191BE05-C047-69BE-A495-F02D0E440A9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1C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DC105E42-6F44-859B-3C2D-78267B1ECF1A}"/>
              </a:ext>
            </a:extLst>
          </p:cNvPr>
          <p:cNvGrpSpPr/>
          <p:nvPr/>
        </p:nvGrpSpPr>
        <p:grpSpPr>
          <a:xfrm>
            <a:off x="26637" y="2677861"/>
            <a:ext cx="1895032" cy="292292"/>
            <a:chOff x="26637" y="1377194"/>
            <a:chExt cx="1895032" cy="292292"/>
          </a:xfrm>
        </p:grpSpPr>
        <p:sp>
          <p:nvSpPr>
            <p:cNvPr id="4" name="Retângulo: Cantos Arredondados 3">
              <a:extLst>
                <a:ext uri="{FF2B5EF4-FFF2-40B4-BE49-F238E27FC236}">
                  <a16:creationId xmlns:a16="http://schemas.microsoft.com/office/drawing/2014/main" id="{AA4BC605-03ED-A69F-28F7-4D51D5A98870}"/>
                </a:ext>
              </a:extLst>
            </p:cNvPr>
            <p:cNvSpPr/>
            <p:nvPr/>
          </p:nvSpPr>
          <p:spPr>
            <a:xfrm>
              <a:off x="26637" y="1379220"/>
              <a:ext cx="1895032" cy="290266"/>
            </a:xfrm>
            <a:prstGeom prst="roundRect">
              <a:avLst/>
            </a:prstGeom>
            <a:solidFill>
              <a:srgbClr val="154371"/>
            </a:solidFill>
            <a:ln>
              <a:noFill/>
            </a:ln>
            <a:effectLst>
              <a:outerShdw blurRad="152400" dist="63500" sx="93000" sy="93000" algn="ctr" rotWithShape="0">
                <a:schemeClr val="bg1">
                  <a:lumMod val="75000"/>
                  <a:alpha val="7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24" name="Retângulo: Cantos Arredondados 23">
              <a:extLst>
                <a:ext uri="{FF2B5EF4-FFF2-40B4-BE49-F238E27FC236}">
                  <a16:creationId xmlns:a16="http://schemas.microsoft.com/office/drawing/2014/main" id="{EFEBB476-895D-A033-F37D-3F44ADB12F38}"/>
                </a:ext>
              </a:extLst>
            </p:cNvPr>
            <p:cNvSpPr/>
            <p:nvPr/>
          </p:nvSpPr>
          <p:spPr>
            <a:xfrm>
              <a:off x="26775" y="1377194"/>
              <a:ext cx="36000" cy="290266"/>
            </a:xfrm>
            <a:prstGeom prst="roundRect">
              <a:avLst/>
            </a:prstGeom>
            <a:solidFill>
              <a:srgbClr val="FC781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" name="Retângulo: Cantos Superiores Arredondados 2">
            <a:extLst>
              <a:ext uri="{FF2B5EF4-FFF2-40B4-BE49-F238E27FC236}">
                <a16:creationId xmlns:a16="http://schemas.microsoft.com/office/drawing/2014/main" id="{105265F4-8AFB-5D1F-7902-AA388C8DF113}"/>
              </a:ext>
            </a:extLst>
          </p:cNvPr>
          <p:cNvSpPr/>
          <p:nvPr/>
        </p:nvSpPr>
        <p:spPr>
          <a:xfrm rot="16200000">
            <a:off x="3660917" y="-1673090"/>
            <a:ext cx="6857998" cy="10204179"/>
          </a:xfrm>
          <a:prstGeom prst="round2SameRect">
            <a:avLst>
              <a:gd name="adj1" fmla="val 5460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258D297F-E666-0EF0-BC22-96A04D079684}"/>
              </a:ext>
            </a:extLst>
          </p:cNvPr>
          <p:cNvSpPr txBox="1"/>
          <p:nvPr/>
        </p:nvSpPr>
        <p:spPr>
          <a:xfrm>
            <a:off x="2282701" y="274264"/>
            <a:ext cx="4490847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11C3A"/>
                </a:solidFill>
                <a:latin typeface="Avenir LT Pro 65 Medium" panose="020B0603020203020204" pitchFamily="34" charset="0"/>
              </a:rPr>
              <a:t>Evolução &amp; Comparativos—  Portal B2B 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B52741A-45C3-E5F1-A009-734D99A1FB74}"/>
              </a:ext>
            </a:extLst>
          </p:cNvPr>
          <p:cNvSpPr txBox="1"/>
          <p:nvPr/>
        </p:nvSpPr>
        <p:spPr>
          <a:xfrm>
            <a:off x="-6" y="951643"/>
            <a:ext cx="774626" cy="25391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pt-BR" sz="1050" b="1" dirty="0">
                <a:solidFill>
                  <a:srgbClr val="FC781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PÁGINAS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7FA2B67-4C3B-7DF9-C6D4-7AFC22E96C0E}"/>
              </a:ext>
            </a:extLst>
          </p:cNvPr>
          <p:cNvSpPr txBox="1"/>
          <p:nvPr/>
        </p:nvSpPr>
        <p:spPr>
          <a:xfrm>
            <a:off x="286268" y="1272707"/>
            <a:ext cx="1802670" cy="214116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SzPct val="120000"/>
            </a:pPr>
            <a:r>
              <a:rPr lang="pt-BR" sz="10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Visão Executiva</a:t>
            </a:r>
          </a:p>
          <a:p>
            <a:pPr marL="171450" indent="-171450">
              <a:lnSpc>
                <a:spcPct val="150000"/>
              </a:lnSpc>
              <a:buSzPct val="120000"/>
              <a:buFont typeface="Wingdings" panose="05000000000000000000" pitchFamily="2" charset="2"/>
              <a:buChar char="§"/>
            </a:pPr>
            <a:endParaRPr lang="pt-BR" sz="10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  <a:buSzPct val="120000"/>
            </a:pPr>
            <a:r>
              <a:rPr lang="pt-BR" sz="10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Funil &amp; Oportunidades</a:t>
            </a:r>
          </a:p>
          <a:p>
            <a:pPr marL="171450" indent="-171450">
              <a:lnSpc>
                <a:spcPct val="150000"/>
              </a:lnSpc>
              <a:buSzPct val="120000"/>
              <a:buFont typeface="Wingdings" panose="05000000000000000000" pitchFamily="2" charset="2"/>
              <a:buChar char="§"/>
            </a:pPr>
            <a:endParaRPr lang="pt-BR" sz="10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  <a:buSzPct val="120000"/>
            </a:pPr>
            <a:r>
              <a:rPr lang="pt-BR" sz="10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Resultado Comercial</a:t>
            </a:r>
          </a:p>
          <a:p>
            <a:pPr>
              <a:lnSpc>
                <a:spcPct val="150000"/>
              </a:lnSpc>
              <a:buSzPct val="120000"/>
            </a:pPr>
            <a:endParaRPr lang="pt-BR" sz="10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  <a:buSzPct val="120000"/>
            </a:pPr>
            <a:r>
              <a:rPr lang="pt-BR" sz="1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Evolução &amp; Comparativos</a:t>
            </a:r>
          </a:p>
          <a:p>
            <a:pPr marL="171450" indent="-171450">
              <a:lnSpc>
                <a:spcPct val="150000"/>
              </a:lnSpc>
              <a:buSzPct val="120000"/>
              <a:buFont typeface="Wingdings" panose="05000000000000000000" pitchFamily="2" charset="2"/>
              <a:buChar char="§"/>
            </a:pPr>
            <a:endParaRPr lang="pt-BR" sz="10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  <a:buSzPct val="120000"/>
            </a:pPr>
            <a:r>
              <a:rPr lang="pt-BR" sz="10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Plano de Ação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12465ED-E3BD-A306-091C-2912D1F3A4C5}"/>
              </a:ext>
            </a:extLst>
          </p:cNvPr>
          <p:cNvSpPr txBox="1"/>
          <p:nvPr/>
        </p:nvSpPr>
        <p:spPr>
          <a:xfrm>
            <a:off x="-13" y="3660599"/>
            <a:ext cx="990121" cy="25391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pt-BR" sz="1050" b="1" dirty="0">
                <a:solidFill>
                  <a:srgbClr val="FC781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FILTROS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5F9F591B-3F7A-9D3D-BE17-31913BE677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462" y="212512"/>
            <a:ext cx="2149226" cy="512512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08BFEF24-2F74-AF65-4BC2-7A029089463B}"/>
              </a:ext>
            </a:extLst>
          </p:cNvPr>
          <p:cNvSpPr txBox="1"/>
          <p:nvPr/>
        </p:nvSpPr>
        <p:spPr>
          <a:xfrm>
            <a:off x="2301872" y="555675"/>
            <a:ext cx="58071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rgbClr val="2C5068"/>
                </a:solidFill>
              </a:rPr>
              <a:t>Análise temporal do crescimento do canal, comparativos entre anos e evolução acumulada</a:t>
            </a:r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B9794053-6CCB-9156-251A-5C5CA59007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57" y="185190"/>
            <a:ext cx="1743101" cy="636929"/>
          </a:xfrm>
          <a:prstGeom prst="rect">
            <a:avLst/>
          </a:prstGeom>
        </p:spPr>
      </p:pic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E6C815D5-9CA0-7AA1-876C-AC5CEF029E73}"/>
              </a:ext>
            </a:extLst>
          </p:cNvPr>
          <p:cNvCxnSpPr>
            <a:cxnSpLocks/>
          </p:cNvCxnSpPr>
          <p:nvPr/>
        </p:nvCxnSpPr>
        <p:spPr>
          <a:xfrm>
            <a:off x="101085" y="3596292"/>
            <a:ext cx="1686932" cy="0"/>
          </a:xfrm>
          <a:prstGeom prst="line">
            <a:avLst/>
          </a:prstGeom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m 5">
            <a:extLst>
              <a:ext uri="{FF2B5EF4-FFF2-40B4-BE49-F238E27FC236}">
                <a16:creationId xmlns:a16="http://schemas.microsoft.com/office/drawing/2014/main" id="{56D6A09C-09BB-58FA-C735-784F08B95B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87" y="1333817"/>
            <a:ext cx="233339" cy="233339"/>
          </a:xfrm>
          <a:prstGeom prst="rect">
            <a:avLst/>
          </a:prstGeom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022529B5-943B-36E9-A3C4-A1BE69B663C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81" y="2700244"/>
            <a:ext cx="245444" cy="245444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6E7BAD89-7FD5-0052-AD73-523B8FEEB7F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01" y="3134684"/>
            <a:ext cx="246932" cy="246932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BBDAC74C-D417-8CF1-7C6C-D954471229C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81" y="2231974"/>
            <a:ext cx="245444" cy="245444"/>
          </a:xfrm>
          <a:prstGeom prst="rect">
            <a:avLst/>
          </a:prstGeom>
        </p:spPr>
      </p:pic>
      <p:pic>
        <p:nvPicPr>
          <p:cNvPr id="29" name="Imagem 28">
            <a:extLst>
              <a:ext uri="{FF2B5EF4-FFF2-40B4-BE49-F238E27FC236}">
                <a16:creationId xmlns:a16="http://schemas.microsoft.com/office/drawing/2014/main" id="{9BE778C2-F168-C83B-A80E-0B6FFC9CC80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86" y="1800004"/>
            <a:ext cx="233339" cy="233339"/>
          </a:xfrm>
          <a:prstGeom prst="rect">
            <a:avLst/>
          </a:prstGeom>
        </p:spPr>
      </p:pic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BB77D897-10D7-C4BD-EA0C-772E1678C2FB}"/>
              </a:ext>
            </a:extLst>
          </p:cNvPr>
          <p:cNvSpPr/>
          <p:nvPr/>
        </p:nvSpPr>
        <p:spPr>
          <a:xfrm>
            <a:off x="2282703" y="4547607"/>
            <a:ext cx="9599377" cy="2007976"/>
          </a:xfrm>
          <a:prstGeom prst="roundRect">
            <a:avLst>
              <a:gd name="adj" fmla="val 11302"/>
            </a:avLst>
          </a:prstGeom>
          <a:solidFill>
            <a:schemeClr val="bg1"/>
          </a:solidFill>
          <a:ln>
            <a:noFill/>
          </a:ln>
          <a:effectLst>
            <a:outerShdw blurRad="152400" dist="38100" dir="2700000" algn="t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Barra de título do visual">
            <a:extLst>
              <a:ext uri="{FF2B5EF4-FFF2-40B4-BE49-F238E27FC236}">
                <a16:creationId xmlns:a16="http://schemas.microsoft.com/office/drawing/2014/main" id="{24068928-EC73-2C42-476F-DC586811E858}"/>
              </a:ext>
            </a:extLst>
          </p:cNvPr>
          <p:cNvSpPr/>
          <p:nvPr/>
        </p:nvSpPr>
        <p:spPr>
          <a:xfrm>
            <a:off x="2282703" y="4547607"/>
            <a:ext cx="9599377" cy="241200"/>
          </a:xfrm>
          <a:prstGeom prst="round2SameRect">
            <a:avLst/>
          </a:prstGeom>
          <a:solidFill>
            <a:srgbClr val="01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8FBB1CE9-C0FE-6342-148C-EA3EF9507DE4}"/>
              </a:ext>
            </a:extLst>
          </p:cNvPr>
          <p:cNvSpPr txBox="1"/>
          <p:nvPr/>
        </p:nvSpPr>
        <p:spPr>
          <a:xfrm>
            <a:off x="6001623" y="4529707"/>
            <a:ext cx="21615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  <a:latin typeface="Avenir Next W1G Medium" panose="020B0603020202020204" pitchFamily="34" charset="0"/>
              </a:rPr>
              <a:t>Evolução Acumulada YTD</a:t>
            </a:r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7042B849-7777-6171-F968-71BC2800D0A2}"/>
              </a:ext>
            </a:extLst>
          </p:cNvPr>
          <p:cNvSpPr/>
          <p:nvPr/>
        </p:nvSpPr>
        <p:spPr>
          <a:xfrm>
            <a:off x="2271219" y="2108577"/>
            <a:ext cx="9599377" cy="2376817"/>
          </a:xfrm>
          <a:prstGeom prst="roundRect">
            <a:avLst>
              <a:gd name="adj" fmla="val 11302"/>
            </a:avLst>
          </a:prstGeom>
          <a:solidFill>
            <a:schemeClr val="bg1"/>
          </a:solidFill>
          <a:ln>
            <a:noFill/>
          </a:ln>
          <a:effectLst>
            <a:outerShdw blurRad="152400" dist="38100" dir="2700000" algn="t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Barra de título do visual">
            <a:extLst>
              <a:ext uri="{FF2B5EF4-FFF2-40B4-BE49-F238E27FC236}">
                <a16:creationId xmlns:a16="http://schemas.microsoft.com/office/drawing/2014/main" id="{FA004972-B5F4-322E-3556-A6467B2F3816}"/>
              </a:ext>
            </a:extLst>
          </p:cNvPr>
          <p:cNvSpPr/>
          <p:nvPr/>
        </p:nvSpPr>
        <p:spPr>
          <a:xfrm>
            <a:off x="2271219" y="2109284"/>
            <a:ext cx="9599377" cy="241200"/>
          </a:xfrm>
          <a:prstGeom prst="round2SameRect">
            <a:avLst/>
          </a:prstGeom>
          <a:solidFill>
            <a:srgbClr val="01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9D767419-C18E-F1CD-77A0-77FD0820B9D6}"/>
              </a:ext>
            </a:extLst>
          </p:cNvPr>
          <p:cNvSpPr txBox="1"/>
          <p:nvPr/>
        </p:nvSpPr>
        <p:spPr>
          <a:xfrm>
            <a:off x="5330521" y="2104591"/>
            <a:ext cx="3480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  <a:latin typeface="Avenir Next W1G Medium" panose="020B0603020202020204" pitchFamily="34" charset="0"/>
              </a:rPr>
              <a:t>Vendas por mês </a:t>
            </a:r>
            <a:r>
              <a:rPr lang="pt-BR" sz="1200" b="1" dirty="0">
                <a:solidFill>
                  <a:schemeClr val="bg1"/>
                </a:solidFill>
                <a:latin typeface="Avenir Next W1G Medium" panose="020B0603020202020204" pitchFamily="34" charset="0"/>
              </a:rPr>
              <a:t>—</a:t>
            </a:r>
            <a:r>
              <a:rPr lang="pt-BR" sz="1200" b="1" dirty="0">
                <a:solidFill>
                  <a:schemeClr val="bg1"/>
                </a:solidFill>
                <a:latin typeface="Avenir LT Pro 65 Medium" panose="020B0603020203020204" pitchFamily="34" charset="0"/>
              </a:rPr>
              <a:t> </a:t>
            </a:r>
            <a:r>
              <a:rPr lang="pt-BR" sz="1200" dirty="0">
                <a:solidFill>
                  <a:schemeClr val="bg1"/>
                </a:solidFill>
                <a:latin typeface="Avenir Next W1G Medium" panose="020B0603020202020204" pitchFamily="34" charset="0"/>
              </a:rPr>
              <a:t>Comparação entre Anos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309F3865-13E3-558F-1375-D00748008F57}"/>
              </a:ext>
            </a:extLst>
          </p:cNvPr>
          <p:cNvSpPr/>
          <p:nvPr/>
        </p:nvSpPr>
        <p:spPr>
          <a:xfrm>
            <a:off x="2290225" y="912706"/>
            <a:ext cx="9580371" cy="1115839"/>
          </a:xfrm>
          <a:prstGeom prst="roundRect">
            <a:avLst>
              <a:gd name="adj" fmla="val 11302"/>
            </a:avLst>
          </a:prstGeom>
          <a:solidFill>
            <a:schemeClr val="bg1"/>
          </a:solidFill>
          <a:ln>
            <a:noFill/>
          </a:ln>
          <a:effectLst>
            <a:outerShdw blurRad="152400" dist="38100" dir="2700000" algn="t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" name="Barra de título do visual">
            <a:extLst>
              <a:ext uri="{FF2B5EF4-FFF2-40B4-BE49-F238E27FC236}">
                <a16:creationId xmlns:a16="http://schemas.microsoft.com/office/drawing/2014/main" id="{A5CC6B81-77CD-DE99-2A03-82EEE8A2B272}"/>
              </a:ext>
            </a:extLst>
          </p:cNvPr>
          <p:cNvSpPr/>
          <p:nvPr/>
        </p:nvSpPr>
        <p:spPr>
          <a:xfrm>
            <a:off x="2278311" y="912706"/>
            <a:ext cx="9599377" cy="241200"/>
          </a:xfrm>
          <a:prstGeom prst="round2SameRect">
            <a:avLst/>
          </a:prstGeom>
          <a:solidFill>
            <a:srgbClr val="01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951C4170-BBDF-E891-9644-2C291E3A6A39}"/>
              </a:ext>
            </a:extLst>
          </p:cNvPr>
          <p:cNvSpPr txBox="1"/>
          <p:nvPr/>
        </p:nvSpPr>
        <p:spPr>
          <a:xfrm>
            <a:off x="6162086" y="894887"/>
            <a:ext cx="18318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  <a:latin typeface="Avenir Next W1G Medium" panose="020B0603020202020204" pitchFamily="34" charset="0"/>
              </a:rPr>
              <a:t>Resumo Consolidado</a:t>
            </a:r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24DAD8EF-51D5-69DE-4A1B-35C80C87F30B}"/>
              </a:ext>
            </a:extLst>
          </p:cNvPr>
          <p:cNvGrpSpPr/>
          <p:nvPr/>
        </p:nvGrpSpPr>
        <p:grpSpPr>
          <a:xfrm>
            <a:off x="62775" y="6565651"/>
            <a:ext cx="1322105" cy="245197"/>
            <a:chOff x="-12" y="6565651"/>
            <a:chExt cx="1322105" cy="245197"/>
          </a:xfrm>
        </p:grpSpPr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202F618A-067C-9E90-3128-144ACAD71855}"/>
                </a:ext>
              </a:extLst>
            </p:cNvPr>
            <p:cNvSpPr txBox="1"/>
            <p:nvPr/>
          </p:nvSpPr>
          <p:spPr>
            <a:xfrm>
              <a:off x="-12" y="6577300"/>
              <a:ext cx="1030896" cy="215444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pt-BR" sz="8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LIMPAR FILTROS</a:t>
              </a:r>
            </a:p>
          </p:txBody>
        </p:sp>
        <p:sp>
          <p:nvSpPr>
            <p:cNvPr id="16" name="Retângulo: Cantos Arredondados 15">
              <a:extLst>
                <a:ext uri="{FF2B5EF4-FFF2-40B4-BE49-F238E27FC236}">
                  <a16:creationId xmlns:a16="http://schemas.microsoft.com/office/drawing/2014/main" id="{4BA15602-9468-A81A-59FD-EC84F6A78903}"/>
                </a:ext>
              </a:extLst>
            </p:cNvPr>
            <p:cNvSpPr/>
            <p:nvPr/>
          </p:nvSpPr>
          <p:spPr>
            <a:xfrm>
              <a:off x="30980" y="6565651"/>
              <a:ext cx="1291113" cy="245197"/>
            </a:xfrm>
            <a:prstGeom prst="round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A14AA9F8-7B32-A642-44B7-724E41B8F20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7088" y="6583613"/>
              <a:ext cx="211077" cy="2110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992090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BB373-6D3D-9389-30C2-F4BD58975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D456397-F85A-7F9D-BA4F-638544A4926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1C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693CA637-5490-C3CF-7F44-C33066E4EBA4}"/>
              </a:ext>
            </a:extLst>
          </p:cNvPr>
          <p:cNvGrpSpPr/>
          <p:nvPr/>
        </p:nvGrpSpPr>
        <p:grpSpPr>
          <a:xfrm>
            <a:off x="26637" y="3119370"/>
            <a:ext cx="1895032" cy="292292"/>
            <a:chOff x="26637" y="1377194"/>
            <a:chExt cx="1895032" cy="292292"/>
          </a:xfrm>
        </p:grpSpPr>
        <p:sp>
          <p:nvSpPr>
            <p:cNvPr id="4" name="Retângulo: Cantos Arredondados 3">
              <a:extLst>
                <a:ext uri="{FF2B5EF4-FFF2-40B4-BE49-F238E27FC236}">
                  <a16:creationId xmlns:a16="http://schemas.microsoft.com/office/drawing/2014/main" id="{855FCA7C-9406-1AA5-4ABA-C50C95D91156}"/>
                </a:ext>
              </a:extLst>
            </p:cNvPr>
            <p:cNvSpPr/>
            <p:nvPr/>
          </p:nvSpPr>
          <p:spPr>
            <a:xfrm>
              <a:off x="26637" y="1379220"/>
              <a:ext cx="1895032" cy="290266"/>
            </a:xfrm>
            <a:prstGeom prst="roundRect">
              <a:avLst/>
            </a:prstGeom>
            <a:solidFill>
              <a:srgbClr val="154371"/>
            </a:solidFill>
            <a:ln>
              <a:noFill/>
            </a:ln>
            <a:effectLst>
              <a:outerShdw blurRad="152400" dist="63500" sx="93000" sy="93000" algn="ctr" rotWithShape="0">
                <a:schemeClr val="bg1">
                  <a:lumMod val="75000"/>
                  <a:alpha val="7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24" name="Retângulo: Cantos Arredondados 23">
              <a:extLst>
                <a:ext uri="{FF2B5EF4-FFF2-40B4-BE49-F238E27FC236}">
                  <a16:creationId xmlns:a16="http://schemas.microsoft.com/office/drawing/2014/main" id="{80F6CB05-0D11-F8E5-61B9-341F132B1D04}"/>
                </a:ext>
              </a:extLst>
            </p:cNvPr>
            <p:cNvSpPr/>
            <p:nvPr/>
          </p:nvSpPr>
          <p:spPr>
            <a:xfrm>
              <a:off x="26775" y="1377194"/>
              <a:ext cx="36000" cy="290266"/>
            </a:xfrm>
            <a:prstGeom prst="roundRect">
              <a:avLst/>
            </a:prstGeom>
            <a:solidFill>
              <a:srgbClr val="FC781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" name="Retângulo: Cantos Superiores Arredondados 2">
            <a:extLst>
              <a:ext uri="{FF2B5EF4-FFF2-40B4-BE49-F238E27FC236}">
                <a16:creationId xmlns:a16="http://schemas.microsoft.com/office/drawing/2014/main" id="{0B57EB4C-178D-9D97-A909-5E64578FAEB0}"/>
              </a:ext>
            </a:extLst>
          </p:cNvPr>
          <p:cNvSpPr/>
          <p:nvPr/>
        </p:nvSpPr>
        <p:spPr>
          <a:xfrm rot="16200000">
            <a:off x="3660917" y="-1673090"/>
            <a:ext cx="6857998" cy="10204179"/>
          </a:xfrm>
          <a:prstGeom prst="round2SameRect">
            <a:avLst>
              <a:gd name="adj1" fmla="val 5460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AACD8432-6904-932D-54BD-C735811E5C96}"/>
              </a:ext>
            </a:extLst>
          </p:cNvPr>
          <p:cNvSpPr txBox="1"/>
          <p:nvPr/>
        </p:nvSpPr>
        <p:spPr>
          <a:xfrm>
            <a:off x="2282702" y="274264"/>
            <a:ext cx="3477436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11C3A"/>
                </a:solidFill>
                <a:latin typeface="Avenir LT Pro 65 Medium" panose="020B0603020203020204" pitchFamily="34" charset="0"/>
              </a:rPr>
              <a:t>Plano de Ação —  Portal B2B 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91F19B2-0C03-692D-E033-70053DEB7297}"/>
              </a:ext>
            </a:extLst>
          </p:cNvPr>
          <p:cNvSpPr txBox="1"/>
          <p:nvPr/>
        </p:nvSpPr>
        <p:spPr>
          <a:xfrm>
            <a:off x="-6" y="951643"/>
            <a:ext cx="774626" cy="25391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pt-BR" sz="1050" b="1" dirty="0">
                <a:solidFill>
                  <a:srgbClr val="FC781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PÁGINAS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5FC7864-79EC-2586-88B8-B2AE94BB5DDB}"/>
              </a:ext>
            </a:extLst>
          </p:cNvPr>
          <p:cNvSpPr txBox="1"/>
          <p:nvPr/>
        </p:nvSpPr>
        <p:spPr>
          <a:xfrm>
            <a:off x="-13" y="3660599"/>
            <a:ext cx="990121" cy="25391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pt-BR" sz="1050" b="1" dirty="0">
                <a:solidFill>
                  <a:srgbClr val="FC781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FILTROS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21068E4D-6F01-04AF-29BC-B55390993A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462" y="212512"/>
            <a:ext cx="2149226" cy="512512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FB1FDFCC-4DC9-EC54-CF68-7E45B8296D5D}"/>
              </a:ext>
            </a:extLst>
          </p:cNvPr>
          <p:cNvSpPr txBox="1"/>
          <p:nvPr/>
        </p:nvSpPr>
        <p:spPr>
          <a:xfrm>
            <a:off x="2301873" y="555675"/>
            <a:ext cx="46249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rgbClr val="2C5068"/>
                </a:solidFill>
              </a:rPr>
              <a:t>Base priorizada para integração, ativação comercial e acompanhamento</a:t>
            </a:r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687E323C-A590-0033-1453-9802E679E8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57" y="185190"/>
            <a:ext cx="1743101" cy="636929"/>
          </a:xfrm>
          <a:prstGeom prst="rect">
            <a:avLst/>
          </a:prstGeom>
        </p:spPr>
      </p:pic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F028167A-D6F5-03C4-759E-FA07437A0A2E}"/>
              </a:ext>
            </a:extLst>
          </p:cNvPr>
          <p:cNvCxnSpPr>
            <a:cxnSpLocks/>
          </p:cNvCxnSpPr>
          <p:nvPr/>
        </p:nvCxnSpPr>
        <p:spPr>
          <a:xfrm>
            <a:off x="101085" y="3596292"/>
            <a:ext cx="1686932" cy="0"/>
          </a:xfrm>
          <a:prstGeom prst="line">
            <a:avLst/>
          </a:prstGeom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m 5">
            <a:extLst>
              <a:ext uri="{FF2B5EF4-FFF2-40B4-BE49-F238E27FC236}">
                <a16:creationId xmlns:a16="http://schemas.microsoft.com/office/drawing/2014/main" id="{10BAAFD6-4E2E-1AF9-4E00-4803B367E8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87" y="1333817"/>
            <a:ext cx="233339" cy="233339"/>
          </a:xfrm>
          <a:prstGeom prst="rect">
            <a:avLst/>
          </a:prstGeom>
        </p:spPr>
      </p:pic>
      <p:sp>
        <p:nvSpPr>
          <p:cNvPr id="44" name="CaixaDeTexto 43">
            <a:extLst>
              <a:ext uri="{FF2B5EF4-FFF2-40B4-BE49-F238E27FC236}">
                <a16:creationId xmlns:a16="http://schemas.microsoft.com/office/drawing/2014/main" id="{B3FE533D-FAAD-ED0E-D928-EE79F2CC7A69}"/>
              </a:ext>
            </a:extLst>
          </p:cNvPr>
          <p:cNvSpPr txBox="1"/>
          <p:nvPr/>
        </p:nvSpPr>
        <p:spPr>
          <a:xfrm>
            <a:off x="286268" y="1272707"/>
            <a:ext cx="1802670" cy="214116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SzPct val="120000"/>
            </a:pPr>
            <a:r>
              <a:rPr lang="pt-BR" sz="10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Visão Executiva</a:t>
            </a:r>
          </a:p>
          <a:p>
            <a:pPr marL="171450" indent="-171450">
              <a:lnSpc>
                <a:spcPct val="150000"/>
              </a:lnSpc>
              <a:buSzPct val="120000"/>
              <a:buFont typeface="Wingdings" panose="05000000000000000000" pitchFamily="2" charset="2"/>
              <a:buChar char="§"/>
            </a:pPr>
            <a:endParaRPr lang="pt-BR" sz="10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  <a:buSzPct val="120000"/>
            </a:pPr>
            <a:r>
              <a:rPr lang="pt-BR" sz="10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Funil &amp; Oportunidades</a:t>
            </a:r>
          </a:p>
          <a:p>
            <a:pPr marL="171450" indent="-171450">
              <a:lnSpc>
                <a:spcPct val="150000"/>
              </a:lnSpc>
              <a:buSzPct val="120000"/>
              <a:buFont typeface="Wingdings" panose="05000000000000000000" pitchFamily="2" charset="2"/>
              <a:buChar char="§"/>
            </a:pPr>
            <a:endParaRPr lang="pt-BR" sz="10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  <a:buSzPct val="120000"/>
            </a:pPr>
            <a:r>
              <a:rPr lang="pt-BR" sz="10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Resultado Comercial</a:t>
            </a:r>
          </a:p>
          <a:p>
            <a:pPr>
              <a:lnSpc>
                <a:spcPct val="150000"/>
              </a:lnSpc>
              <a:buSzPct val="120000"/>
            </a:pPr>
            <a:endParaRPr lang="pt-BR" sz="10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  <a:buSzPct val="120000"/>
            </a:pPr>
            <a:r>
              <a:rPr lang="pt-BR" sz="10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Evolução &amp; Comparativos</a:t>
            </a:r>
          </a:p>
          <a:p>
            <a:pPr marL="171450" indent="-171450">
              <a:lnSpc>
                <a:spcPct val="150000"/>
              </a:lnSpc>
              <a:buSzPct val="120000"/>
              <a:buFont typeface="Wingdings" panose="05000000000000000000" pitchFamily="2" charset="2"/>
              <a:buChar char="§"/>
            </a:pPr>
            <a:endParaRPr lang="pt-BR" sz="10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  <a:buSzPct val="120000"/>
            </a:pPr>
            <a:r>
              <a:rPr lang="pt-BR" sz="1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Plano de Ação</a:t>
            </a:r>
          </a:p>
        </p:txBody>
      </p:sp>
      <p:pic>
        <p:nvPicPr>
          <p:cNvPr id="45" name="Imagem 44">
            <a:extLst>
              <a:ext uri="{FF2B5EF4-FFF2-40B4-BE49-F238E27FC236}">
                <a16:creationId xmlns:a16="http://schemas.microsoft.com/office/drawing/2014/main" id="{B798237C-3E11-A16A-D5B1-87F8861883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86" y="1800004"/>
            <a:ext cx="233339" cy="233339"/>
          </a:xfrm>
          <a:prstGeom prst="rect">
            <a:avLst/>
          </a:prstGeom>
        </p:spPr>
      </p:pic>
      <p:pic>
        <p:nvPicPr>
          <p:cNvPr id="46" name="Imagem 45">
            <a:extLst>
              <a:ext uri="{FF2B5EF4-FFF2-40B4-BE49-F238E27FC236}">
                <a16:creationId xmlns:a16="http://schemas.microsoft.com/office/drawing/2014/main" id="{D295E43B-A477-D8D6-C970-72899C040C1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81" y="2231974"/>
            <a:ext cx="245444" cy="245444"/>
          </a:xfrm>
          <a:prstGeom prst="rect">
            <a:avLst/>
          </a:prstGeom>
        </p:spPr>
      </p:pic>
      <p:pic>
        <p:nvPicPr>
          <p:cNvPr id="48" name="Imagem 47">
            <a:extLst>
              <a:ext uri="{FF2B5EF4-FFF2-40B4-BE49-F238E27FC236}">
                <a16:creationId xmlns:a16="http://schemas.microsoft.com/office/drawing/2014/main" id="{D48D995C-6FBD-217F-BE72-083403246A9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01" y="3134684"/>
            <a:ext cx="246932" cy="246932"/>
          </a:xfrm>
          <a:prstGeom prst="rect">
            <a:avLst/>
          </a:prstGeom>
        </p:spPr>
      </p:pic>
      <p:pic>
        <p:nvPicPr>
          <p:cNvPr id="49" name="Imagem 48">
            <a:extLst>
              <a:ext uri="{FF2B5EF4-FFF2-40B4-BE49-F238E27FC236}">
                <a16:creationId xmlns:a16="http://schemas.microsoft.com/office/drawing/2014/main" id="{5AA844EB-EF95-7698-5A51-F3D840EFD1F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81" y="2700244"/>
            <a:ext cx="245444" cy="245444"/>
          </a:xfrm>
          <a:prstGeom prst="rect">
            <a:avLst/>
          </a:prstGeom>
        </p:spPr>
      </p:pic>
      <p:sp>
        <p:nvSpPr>
          <p:cNvPr id="56" name="Retângulo: Cantos Arredondados 55">
            <a:extLst>
              <a:ext uri="{FF2B5EF4-FFF2-40B4-BE49-F238E27FC236}">
                <a16:creationId xmlns:a16="http://schemas.microsoft.com/office/drawing/2014/main" id="{78BECA42-06C5-C84C-651B-872ABB974F92}"/>
              </a:ext>
            </a:extLst>
          </p:cNvPr>
          <p:cNvSpPr/>
          <p:nvPr/>
        </p:nvSpPr>
        <p:spPr>
          <a:xfrm>
            <a:off x="7241113" y="907201"/>
            <a:ext cx="2173042" cy="1027616"/>
          </a:xfrm>
          <a:prstGeom prst="roundRect">
            <a:avLst>
              <a:gd name="adj" fmla="val 11302"/>
            </a:avLst>
          </a:prstGeom>
          <a:solidFill>
            <a:srgbClr val="154371"/>
          </a:solidFill>
          <a:ln>
            <a:noFill/>
          </a:ln>
          <a:effectLst>
            <a:outerShdw blurRad="152400" dist="38100" dir="2700000" algn="t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7" name="Retângulo: Cantos Arredondados 56">
            <a:extLst>
              <a:ext uri="{FF2B5EF4-FFF2-40B4-BE49-F238E27FC236}">
                <a16:creationId xmlns:a16="http://schemas.microsoft.com/office/drawing/2014/main" id="{3E47609A-294E-850E-3935-1944B89C5B80}"/>
              </a:ext>
            </a:extLst>
          </p:cNvPr>
          <p:cNvSpPr/>
          <p:nvPr/>
        </p:nvSpPr>
        <p:spPr>
          <a:xfrm>
            <a:off x="9716558" y="907201"/>
            <a:ext cx="2173042" cy="1027616"/>
          </a:xfrm>
          <a:prstGeom prst="roundRect">
            <a:avLst>
              <a:gd name="adj" fmla="val 11302"/>
            </a:avLst>
          </a:prstGeom>
          <a:solidFill>
            <a:srgbClr val="154371"/>
          </a:solidFill>
          <a:ln>
            <a:noFill/>
          </a:ln>
          <a:effectLst>
            <a:outerShdw blurRad="152400" dist="38100" dir="2700000" algn="t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8" name="Retângulo: Cantos Arredondados 57">
            <a:extLst>
              <a:ext uri="{FF2B5EF4-FFF2-40B4-BE49-F238E27FC236}">
                <a16:creationId xmlns:a16="http://schemas.microsoft.com/office/drawing/2014/main" id="{3AA145A9-3D58-1C3D-EEC8-70EF5C428515}"/>
              </a:ext>
            </a:extLst>
          </p:cNvPr>
          <p:cNvSpPr/>
          <p:nvPr/>
        </p:nvSpPr>
        <p:spPr>
          <a:xfrm>
            <a:off x="2290225" y="907201"/>
            <a:ext cx="2173042" cy="1027616"/>
          </a:xfrm>
          <a:prstGeom prst="roundRect">
            <a:avLst>
              <a:gd name="adj" fmla="val 11302"/>
            </a:avLst>
          </a:prstGeom>
          <a:solidFill>
            <a:srgbClr val="154371"/>
          </a:solidFill>
          <a:ln>
            <a:noFill/>
          </a:ln>
          <a:effectLst>
            <a:outerShdw blurRad="152400" dist="38100" dir="2700000" algn="t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9" name="Elipse 58">
            <a:extLst>
              <a:ext uri="{FF2B5EF4-FFF2-40B4-BE49-F238E27FC236}">
                <a16:creationId xmlns:a16="http://schemas.microsoft.com/office/drawing/2014/main" id="{259F73DA-3927-9DE0-F2FC-1B98FB9860E9}"/>
              </a:ext>
            </a:extLst>
          </p:cNvPr>
          <p:cNvSpPr/>
          <p:nvPr/>
        </p:nvSpPr>
        <p:spPr>
          <a:xfrm>
            <a:off x="7349791" y="972000"/>
            <a:ext cx="612000" cy="575209"/>
          </a:xfrm>
          <a:prstGeom prst="ellipse">
            <a:avLst/>
          </a:prstGeom>
          <a:solidFill>
            <a:srgbClr val="123964"/>
          </a:solidFill>
          <a:ln>
            <a:solidFill>
              <a:srgbClr val="698B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0" name="Elipse 59">
            <a:extLst>
              <a:ext uri="{FF2B5EF4-FFF2-40B4-BE49-F238E27FC236}">
                <a16:creationId xmlns:a16="http://schemas.microsoft.com/office/drawing/2014/main" id="{1F565814-A36C-A58C-4A4A-3A03789908C4}"/>
              </a:ext>
            </a:extLst>
          </p:cNvPr>
          <p:cNvSpPr/>
          <p:nvPr/>
        </p:nvSpPr>
        <p:spPr>
          <a:xfrm>
            <a:off x="9834337" y="972000"/>
            <a:ext cx="612000" cy="575209"/>
          </a:xfrm>
          <a:prstGeom prst="ellipse">
            <a:avLst/>
          </a:prstGeom>
          <a:solidFill>
            <a:srgbClr val="123964"/>
          </a:solidFill>
          <a:ln>
            <a:solidFill>
              <a:srgbClr val="698B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1" name="Retângulo: Cantos Arredondados 60">
            <a:extLst>
              <a:ext uri="{FF2B5EF4-FFF2-40B4-BE49-F238E27FC236}">
                <a16:creationId xmlns:a16="http://schemas.microsoft.com/office/drawing/2014/main" id="{76BAC74D-8029-3FA8-2CBC-0525D14871AC}"/>
              </a:ext>
            </a:extLst>
          </p:cNvPr>
          <p:cNvSpPr/>
          <p:nvPr/>
        </p:nvSpPr>
        <p:spPr>
          <a:xfrm>
            <a:off x="4765669" y="907201"/>
            <a:ext cx="2173042" cy="1027616"/>
          </a:xfrm>
          <a:prstGeom prst="roundRect">
            <a:avLst>
              <a:gd name="adj" fmla="val 11302"/>
            </a:avLst>
          </a:prstGeom>
          <a:solidFill>
            <a:srgbClr val="154371"/>
          </a:solidFill>
          <a:ln>
            <a:noFill/>
          </a:ln>
          <a:effectLst>
            <a:outerShdw blurRad="152400" dist="38100" dir="2700000" algn="t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2" name="Elipse 61">
            <a:extLst>
              <a:ext uri="{FF2B5EF4-FFF2-40B4-BE49-F238E27FC236}">
                <a16:creationId xmlns:a16="http://schemas.microsoft.com/office/drawing/2014/main" id="{593727D0-42B4-CDDE-CE5D-ABA20BA14FD2}"/>
              </a:ext>
            </a:extLst>
          </p:cNvPr>
          <p:cNvSpPr/>
          <p:nvPr/>
        </p:nvSpPr>
        <p:spPr>
          <a:xfrm>
            <a:off x="2392701" y="972000"/>
            <a:ext cx="612000" cy="575209"/>
          </a:xfrm>
          <a:prstGeom prst="ellipse">
            <a:avLst/>
          </a:prstGeom>
          <a:solidFill>
            <a:srgbClr val="123964"/>
          </a:solidFill>
          <a:ln>
            <a:solidFill>
              <a:srgbClr val="698B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3" name="Elipse 62">
            <a:extLst>
              <a:ext uri="{FF2B5EF4-FFF2-40B4-BE49-F238E27FC236}">
                <a16:creationId xmlns:a16="http://schemas.microsoft.com/office/drawing/2014/main" id="{EF926859-0E68-A9C8-A593-EAE53AA81BB0}"/>
              </a:ext>
            </a:extLst>
          </p:cNvPr>
          <p:cNvSpPr/>
          <p:nvPr/>
        </p:nvSpPr>
        <p:spPr>
          <a:xfrm>
            <a:off x="4877773" y="972000"/>
            <a:ext cx="612000" cy="575209"/>
          </a:xfrm>
          <a:prstGeom prst="ellipse">
            <a:avLst/>
          </a:prstGeom>
          <a:solidFill>
            <a:srgbClr val="123964"/>
          </a:solidFill>
          <a:ln>
            <a:solidFill>
              <a:srgbClr val="698B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8" name="Retângulo: Cantos Arredondados 67">
            <a:extLst>
              <a:ext uri="{FF2B5EF4-FFF2-40B4-BE49-F238E27FC236}">
                <a16:creationId xmlns:a16="http://schemas.microsoft.com/office/drawing/2014/main" id="{6E40119C-CA71-338D-80EC-39CCF451D4B5}"/>
              </a:ext>
            </a:extLst>
          </p:cNvPr>
          <p:cNvSpPr/>
          <p:nvPr/>
        </p:nvSpPr>
        <p:spPr>
          <a:xfrm>
            <a:off x="2290215" y="2237216"/>
            <a:ext cx="9599378" cy="4318362"/>
          </a:xfrm>
          <a:prstGeom prst="roundRect">
            <a:avLst>
              <a:gd name="adj" fmla="val 7929"/>
            </a:avLst>
          </a:prstGeom>
          <a:solidFill>
            <a:schemeClr val="bg1"/>
          </a:solidFill>
          <a:ln>
            <a:noFill/>
          </a:ln>
          <a:effectLst>
            <a:outerShdw blurRad="152400" dist="38100" dir="2700000" algn="ctr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9" name="Barra de título do visual">
            <a:extLst>
              <a:ext uri="{FF2B5EF4-FFF2-40B4-BE49-F238E27FC236}">
                <a16:creationId xmlns:a16="http://schemas.microsoft.com/office/drawing/2014/main" id="{A8065207-EBF2-0BEA-C80C-6C44D7F52D60}"/>
              </a:ext>
            </a:extLst>
          </p:cNvPr>
          <p:cNvSpPr/>
          <p:nvPr/>
        </p:nvSpPr>
        <p:spPr>
          <a:xfrm>
            <a:off x="2301873" y="2235600"/>
            <a:ext cx="9580207" cy="241200"/>
          </a:xfrm>
          <a:prstGeom prst="round2SameRect">
            <a:avLst/>
          </a:prstGeom>
          <a:solidFill>
            <a:srgbClr val="01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6CDE93C9-74E2-67D7-C8C5-46102E9F257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6954" y="1040864"/>
            <a:ext cx="438633" cy="448546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312292ED-05B0-2EFB-123E-1BCA9CE8D4F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5095" y="993130"/>
            <a:ext cx="457356" cy="457356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549B579E-E951-4610-8135-B85F5FD5880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4788" y="981482"/>
            <a:ext cx="528599" cy="528599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693EF627-E8D3-12A5-5533-58DB6448016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9663" y="990316"/>
            <a:ext cx="541349" cy="541349"/>
          </a:xfrm>
          <a:prstGeom prst="rect">
            <a:avLst/>
          </a:prstGeom>
        </p:spPr>
      </p:pic>
      <p:grpSp>
        <p:nvGrpSpPr>
          <p:cNvPr id="23" name="Agrupar 22">
            <a:extLst>
              <a:ext uri="{FF2B5EF4-FFF2-40B4-BE49-F238E27FC236}">
                <a16:creationId xmlns:a16="http://schemas.microsoft.com/office/drawing/2014/main" id="{39469243-A9B8-FFC8-2CF5-9115C8C33892}"/>
              </a:ext>
            </a:extLst>
          </p:cNvPr>
          <p:cNvGrpSpPr/>
          <p:nvPr/>
        </p:nvGrpSpPr>
        <p:grpSpPr>
          <a:xfrm>
            <a:off x="62775" y="6565651"/>
            <a:ext cx="1322105" cy="245197"/>
            <a:chOff x="-12" y="6565651"/>
            <a:chExt cx="1322105" cy="245197"/>
          </a:xfrm>
        </p:grpSpPr>
        <p:sp>
          <p:nvSpPr>
            <p:cNvPr id="26" name="CaixaDeTexto 25">
              <a:extLst>
                <a:ext uri="{FF2B5EF4-FFF2-40B4-BE49-F238E27FC236}">
                  <a16:creationId xmlns:a16="http://schemas.microsoft.com/office/drawing/2014/main" id="{4615E1E3-6CB0-A1ED-B4C2-9836F80B64DF}"/>
                </a:ext>
              </a:extLst>
            </p:cNvPr>
            <p:cNvSpPr txBox="1"/>
            <p:nvPr/>
          </p:nvSpPr>
          <p:spPr>
            <a:xfrm>
              <a:off x="-12" y="6577300"/>
              <a:ext cx="1030896" cy="215444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pt-BR" sz="8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LIMPAR FILTROS</a:t>
              </a:r>
            </a:p>
          </p:txBody>
        </p:sp>
        <p:sp>
          <p:nvSpPr>
            <p:cNvPr id="28" name="Retângulo: Cantos Arredondados 27">
              <a:extLst>
                <a:ext uri="{FF2B5EF4-FFF2-40B4-BE49-F238E27FC236}">
                  <a16:creationId xmlns:a16="http://schemas.microsoft.com/office/drawing/2014/main" id="{E51B2A98-D8F0-9548-88B2-BEEE7D919796}"/>
                </a:ext>
              </a:extLst>
            </p:cNvPr>
            <p:cNvSpPr/>
            <p:nvPr/>
          </p:nvSpPr>
          <p:spPr>
            <a:xfrm>
              <a:off x="30980" y="6565651"/>
              <a:ext cx="1291113" cy="245197"/>
            </a:xfrm>
            <a:prstGeom prst="round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9" name="Imagem 28">
              <a:extLst>
                <a:ext uri="{FF2B5EF4-FFF2-40B4-BE49-F238E27FC236}">
                  <a16:creationId xmlns:a16="http://schemas.microsoft.com/office/drawing/2014/main" id="{BEF858E7-C75C-78A9-AB18-87B53E21742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7088" y="6583613"/>
              <a:ext cx="211077" cy="211077"/>
            </a:xfrm>
            <a:prstGeom prst="rect">
              <a:avLst/>
            </a:prstGeom>
          </p:spPr>
        </p:pic>
      </p:grp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614FAC52-BF77-12CF-A7D1-736D16ACAC18}"/>
              </a:ext>
            </a:extLst>
          </p:cNvPr>
          <p:cNvSpPr txBox="1"/>
          <p:nvPr/>
        </p:nvSpPr>
        <p:spPr>
          <a:xfrm>
            <a:off x="5727156" y="2216196"/>
            <a:ext cx="27296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  <a:latin typeface="Avenir Next W1G Medium" panose="020B0603020202020204" pitchFamily="34" charset="0"/>
              </a:rPr>
              <a:t>Plano de Ação por Cliente do Portal</a:t>
            </a:r>
          </a:p>
        </p:txBody>
      </p:sp>
    </p:spTree>
    <p:extLst>
      <p:ext uri="{BB962C8B-B14F-4D97-AF65-F5344CB8AC3E}">
        <p14:creationId xmlns:p14="http://schemas.microsoft.com/office/powerpoint/2010/main" val="819938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0BCDA105-ECE4-499F-9819-0BC99B948B8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: Cantos Superiores Arredondados 2">
            <a:extLst>
              <a:ext uri="{FF2B5EF4-FFF2-40B4-BE49-F238E27FC236}">
                <a16:creationId xmlns:a16="http://schemas.microsoft.com/office/drawing/2014/main" id="{65B83BE1-11C0-44AA-9FEA-4699C6FDBCFB}"/>
              </a:ext>
            </a:extLst>
          </p:cNvPr>
          <p:cNvSpPr/>
          <p:nvPr/>
        </p:nvSpPr>
        <p:spPr>
          <a:xfrm rot="16200000">
            <a:off x="3660917" y="-1673090"/>
            <a:ext cx="6857998" cy="10204179"/>
          </a:xfrm>
          <a:prstGeom prst="round2SameRect">
            <a:avLst>
              <a:gd name="adj1" fmla="val 5460"/>
              <a:gd name="adj2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BF6F7ED-7465-498A-9175-F0B111D33FD1}"/>
              </a:ext>
            </a:extLst>
          </p:cNvPr>
          <p:cNvSpPr/>
          <p:nvPr/>
        </p:nvSpPr>
        <p:spPr>
          <a:xfrm>
            <a:off x="1987826" y="-11"/>
            <a:ext cx="302400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86BB8A25-85ED-4122-A21E-8EA37445FE6B}"/>
              </a:ext>
            </a:extLst>
          </p:cNvPr>
          <p:cNvSpPr/>
          <p:nvPr/>
        </p:nvSpPr>
        <p:spPr>
          <a:xfrm>
            <a:off x="11889603" y="0"/>
            <a:ext cx="302400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B870FADB-DBDA-4657-AC74-A4765CBD96D8}"/>
              </a:ext>
            </a:extLst>
          </p:cNvPr>
          <p:cNvSpPr/>
          <p:nvPr/>
        </p:nvSpPr>
        <p:spPr>
          <a:xfrm rot="16200000">
            <a:off x="6938716" y="1907100"/>
            <a:ext cx="302400" cy="959937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66E5284-BDCB-4F59-B791-A99A06DB457C}"/>
              </a:ext>
            </a:extLst>
          </p:cNvPr>
          <p:cNvSpPr/>
          <p:nvPr/>
        </p:nvSpPr>
        <p:spPr>
          <a:xfrm rot="16200000">
            <a:off x="6938715" y="-4648489"/>
            <a:ext cx="302400" cy="959937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ED919981-4086-4F2F-9BC0-915D44B9FD21}"/>
              </a:ext>
            </a:extLst>
          </p:cNvPr>
          <p:cNvSpPr/>
          <p:nvPr/>
        </p:nvSpPr>
        <p:spPr>
          <a:xfrm rot="16200000">
            <a:off x="6938714" y="-4346088"/>
            <a:ext cx="302400" cy="959937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81350F5-608E-437E-A939-3E6D06A30003}"/>
              </a:ext>
            </a:extLst>
          </p:cNvPr>
          <p:cNvSpPr/>
          <p:nvPr/>
        </p:nvSpPr>
        <p:spPr>
          <a:xfrm rot="16200000">
            <a:off x="6938714" y="-4043688"/>
            <a:ext cx="302400" cy="959937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DF89BEEA-A3CA-467A-A8E9-014589E65975}"/>
              </a:ext>
            </a:extLst>
          </p:cNvPr>
          <p:cNvSpPr/>
          <p:nvPr/>
        </p:nvSpPr>
        <p:spPr>
          <a:xfrm>
            <a:off x="4463270" y="0"/>
            <a:ext cx="302400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99C6045B-DFDC-45A8-B726-205891B62079}"/>
              </a:ext>
            </a:extLst>
          </p:cNvPr>
          <p:cNvSpPr/>
          <p:nvPr/>
        </p:nvSpPr>
        <p:spPr>
          <a:xfrm>
            <a:off x="6938714" y="0"/>
            <a:ext cx="302400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B90D8E2-79B1-4FA3-A574-0F990C3EA950}"/>
              </a:ext>
            </a:extLst>
          </p:cNvPr>
          <p:cNvSpPr/>
          <p:nvPr/>
        </p:nvSpPr>
        <p:spPr>
          <a:xfrm>
            <a:off x="9414158" y="0"/>
            <a:ext cx="302400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6948E6FD-BDD0-4A93-9604-66ABA9F420FA}"/>
              </a:ext>
            </a:extLst>
          </p:cNvPr>
          <p:cNvSpPr/>
          <p:nvPr/>
        </p:nvSpPr>
        <p:spPr>
          <a:xfrm>
            <a:off x="2290225" y="907201"/>
            <a:ext cx="2173042" cy="1027616"/>
          </a:xfrm>
          <a:prstGeom prst="roundRect">
            <a:avLst>
              <a:gd name="adj" fmla="val 11302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933005E5-1901-4000-B0E0-39F762E4291E}"/>
              </a:ext>
            </a:extLst>
          </p:cNvPr>
          <p:cNvSpPr/>
          <p:nvPr/>
        </p:nvSpPr>
        <p:spPr>
          <a:xfrm>
            <a:off x="4765669" y="907201"/>
            <a:ext cx="2173042" cy="1027616"/>
          </a:xfrm>
          <a:prstGeom prst="roundRect">
            <a:avLst>
              <a:gd name="adj" fmla="val 11302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7A6A0D39-5D88-48D1-A910-E50F7498E119}"/>
              </a:ext>
            </a:extLst>
          </p:cNvPr>
          <p:cNvSpPr/>
          <p:nvPr/>
        </p:nvSpPr>
        <p:spPr>
          <a:xfrm>
            <a:off x="7241113" y="907201"/>
            <a:ext cx="2173042" cy="1027616"/>
          </a:xfrm>
          <a:prstGeom prst="roundRect">
            <a:avLst>
              <a:gd name="adj" fmla="val 11302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E92737AC-291F-4958-92FA-F3CDFEA5E900}"/>
              </a:ext>
            </a:extLst>
          </p:cNvPr>
          <p:cNvSpPr/>
          <p:nvPr/>
        </p:nvSpPr>
        <p:spPr>
          <a:xfrm>
            <a:off x="9716558" y="907201"/>
            <a:ext cx="2173042" cy="1027616"/>
          </a:xfrm>
          <a:prstGeom prst="roundRect">
            <a:avLst>
              <a:gd name="adj" fmla="val 11302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E9222583-1D7E-42F9-B6C9-F599964CE281}"/>
              </a:ext>
            </a:extLst>
          </p:cNvPr>
          <p:cNvSpPr/>
          <p:nvPr/>
        </p:nvSpPr>
        <p:spPr>
          <a:xfrm rot="16200000">
            <a:off x="6938711" y="-2713672"/>
            <a:ext cx="302400" cy="959937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C4A7A036-7155-4933-B8C9-3C893CA9D5BA}"/>
              </a:ext>
            </a:extLst>
          </p:cNvPr>
          <p:cNvSpPr/>
          <p:nvPr/>
        </p:nvSpPr>
        <p:spPr>
          <a:xfrm rot="16200000">
            <a:off x="6938711" y="-403286"/>
            <a:ext cx="302400" cy="959937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71A057FB-33D0-4A81-8BDF-9BF9A0F84902}"/>
              </a:ext>
            </a:extLst>
          </p:cNvPr>
          <p:cNvSpPr/>
          <p:nvPr/>
        </p:nvSpPr>
        <p:spPr>
          <a:xfrm>
            <a:off x="2290215" y="2237216"/>
            <a:ext cx="9599378" cy="4318362"/>
          </a:xfrm>
          <a:prstGeom prst="roundRect">
            <a:avLst>
              <a:gd name="adj" fmla="val 11302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543630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592</TotalTime>
  <Words>247</Words>
  <Application>Microsoft Office PowerPoint</Application>
  <PresentationFormat>Widescreen</PresentationFormat>
  <Paragraphs>86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4" baseType="lpstr">
      <vt:lpstr>Arial</vt:lpstr>
      <vt:lpstr>Avenir LT Pro 65 Medium</vt:lpstr>
      <vt:lpstr>Avenir Next W1G Medium</vt:lpstr>
      <vt:lpstr>Calibri</vt:lpstr>
      <vt:lpstr>Calibri Light</vt:lpstr>
      <vt:lpstr>Segoe UI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NeobrasTI</dc:creator>
  <cp:lastModifiedBy>João de Melo</cp:lastModifiedBy>
  <cp:revision>62</cp:revision>
  <dcterms:created xsi:type="dcterms:W3CDTF">2026-06-29T13:59:53Z</dcterms:created>
  <dcterms:modified xsi:type="dcterms:W3CDTF">2026-08-14T01:16:21Z</dcterms:modified>
</cp:coreProperties>
</file>